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media/image12.svg" ContentType="image/sv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슬라이드를 이동하려면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 algn="r">
              <a:buNone/>
            </a:pPr>
            <a:fld id="{B2C77CDC-6E61-4637-B1FF-DD82704E1D6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F0B1CD-BF21-44CB-852C-ECF861D1F0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99D18F-3E33-4DF9-B2FC-DBCF7A03A9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C939A4-53CB-4208-8CCD-9EB63241B3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B31516-6114-4043-90BF-12133F0D20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2DCBAB-CC20-4E85-AA81-F56DC3129E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DC56B0-C1AA-4A6D-AE68-17549BB514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6DE1B5-46BB-4A01-938D-F612E30355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AD2F08E-E963-4DF5-B41F-EA27EEE751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E62B8C-360E-4AA8-95F4-B00FC14080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3D0CAB-92A2-4742-AFB1-8F0C5832DC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7B7FB6-16B8-4412-8D3F-DD9CEB7305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EDF966-0532-4C8C-9340-03A1B249D4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8F4FAB-9896-4BFB-AD4D-2F68BD6841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C05F41-61DC-4162-ADD7-9ABDE4BF9D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1F8847-471A-4F90-88EA-B9F544B37C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285887-0024-4449-AAFA-DFAE2D2D25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D56339-A601-4BCB-B94D-553175CB23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17BB84-D33A-4224-A8A4-6C9718FCDA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E74AAE-8484-44A9-9692-91C9FA9D6A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E1F448-F81C-48C8-B3D8-18B2C31113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3A48BF-4D37-48BB-8610-E38C334FDF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363EEA-5F6E-4172-BFF5-5D33C1F4C1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25B854-BEE0-46F8-A3D9-3CF0D9EC13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FD9D67-BC30-4CBC-B7F6-C261A3EBC1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K4_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2191400" cy="219240"/>
          </a:xfrm>
          <a:prstGeom prst="rect">
            <a:avLst/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" name="Text 1"/>
          <p:cNvSpPr/>
          <p:nvPr/>
        </p:nvSpPr>
        <p:spPr>
          <a:xfrm>
            <a:off x="502920" y="6446520"/>
            <a:ext cx="6217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MK4 · LLM </a:t>
            </a:r>
            <a:r>
              <a:rPr lang="ko-KR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기반 로컬 개인화 기억 시스템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" name="Text 2"/>
          <p:cNvSpPr/>
          <p:nvPr/>
        </p:nvSpPr>
        <p:spPr>
          <a:xfrm>
            <a:off x="9418320" y="6446520"/>
            <a:ext cx="2194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AI Academy Project Presentation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Num" idx="1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CEA148-FBA3-40A5-AA2F-00617663D0F5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&lt;숫자&gt;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MK4_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10D3B0-25B1-4383-AF0F-CAC5D2E0DF8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219240"/>
          </a:xfrm>
          <a:prstGeom prst="rect">
            <a:avLst/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02920" y="6446520"/>
            <a:ext cx="6217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MK4 · Troubleshooting Insert Slides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" name="Text 2"/>
          <p:cNvSpPr/>
          <p:nvPr/>
        </p:nvSpPr>
        <p:spPr>
          <a:xfrm>
            <a:off x="9418320" y="6446520"/>
            <a:ext cx="2194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AI Academy Project Presentation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sldNum" idx="2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A4AB85-F1B7-44F6-8763-E2E05571F26F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&lt;숫자&gt;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Noto Sans CJK KR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png"/><Relationship Id="rId6" Type="http://schemas.openxmlformats.org/officeDocument/2006/relationships/image" Target="../media/image12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E1726"/>
          </a:solidFill>
          <a:ln w="12700">
            <a:solidFill>
              <a:srgbClr val="0E17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Shape 1"/>
          <p:cNvSpPr/>
          <p:nvPr/>
        </p:nvSpPr>
        <p:spPr>
          <a:xfrm>
            <a:off x="640080" y="640080"/>
            <a:ext cx="10926720" cy="5303160"/>
          </a:xfrm>
          <a:prstGeom prst="roundRect">
            <a:avLst>
              <a:gd name="adj" fmla="val 862"/>
            </a:avLst>
          </a:prstGeom>
          <a:solidFill>
            <a:srgbClr val="101B2E">
              <a:alpha val="92000"/>
            </a:srgbClr>
          </a:solidFill>
          <a:ln w="12700">
            <a:solidFill>
              <a:srgbClr val="2A3B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4" name="Shape 2"/>
          <p:cNvSpPr/>
          <p:nvPr/>
        </p:nvSpPr>
        <p:spPr>
          <a:xfrm>
            <a:off x="960120" y="1051560"/>
            <a:ext cx="10241280" cy="360"/>
          </a:xfrm>
          <a:prstGeom prst="line">
            <a:avLst/>
          </a:prstGeom>
          <a:ln w="12700">
            <a:solidFill>
              <a:srgbClr val="2335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Text 3"/>
          <p:cNvSpPr/>
          <p:nvPr/>
        </p:nvSpPr>
        <p:spPr>
          <a:xfrm>
            <a:off x="1051560" y="1261800"/>
            <a:ext cx="1919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Text 4"/>
          <p:cNvSpPr/>
          <p:nvPr/>
        </p:nvSpPr>
        <p:spPr>
          <a:xfrm>
            <a:off x="1051560" y="1993320"/>
            <a:ext cx="5851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DCE8FF"/>
                </a:solidFill>
                <a:effectLst/>
                <a:uFillTx/>
                <a:latin typeface="Noto Sans CJK KR"/>
                <a:ea typeface="Noto Sans CJK KR"/>
              </a:rPr>
              <a:t>LLM </a:t>
            </a:r>
            <a:r>
              <a:rPr lang="ko-KR" sz="2300" b="1" u="none" strike="noStrike">
                <a:solidFill>
                  <a:srgbClr val="DCE8FF"/>
                </a:solidFill>
                <a:effectLst/>
                <a:uFillTx/>
                <a:latin typeface="Noto Sans CJK KR"/>
                <a:ea typeface="Noto Sans CJK KR"/>
              </a:rPr>
              <a:t>기반 로컬 개인화 기억 시스템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" name="Text 5"/>
          <p:cNvSpPr/>
          <p:nvPr/>
        </p:nvSpPr>
        <p:spPr>
          <a:xfrm>
            <a:off x="1078920" y="2788920"/>
            <a:ext cx="4937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9FB4D1"/>
                </a:solidFill>
                <a:effectLst/>
                <a:uFillTx/>
                <a:latin typeface="Noto Sans CJK KR"/>
                <a:ea typeface="Noto Sans CJK KR"/>
              </a:rPr>
              <a:t>“잘 답하는 챗봇”이 아니라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700" b="0" u="none" strike="noStrike">
                <a:solidFill>
                  <a:srgbClr val="9FB4D1"/>
                </a:solidFill>
                <a:effectLst/>
                <a:uFillTx/>
                <a:latin typeface="Noto Sans CJK KR"/>
                <a:ea typeface="Noto Sans CJK KR"/>
              </a:rPr>
              <a:t>시간이 지날수록 사용자를 더 일관되게 이해하는 </a:t>
            </a:r>
            <a:r>
              <a:rPr lang="en-US" sz="1700" b="0" u="none" strike="noStrike">
                <a:solidFill>
                  <a:srgbClr val="9FB4D1"/>
                </a:solidFill>
                <a:effectLst/>
                <a:uFillTx/>
                <a:latin typeface="Noto Sans CJK KR"/>
                <a:ea typeface="Noto Sans CJK KR"/>
              </a:rPr>
              <a:t>memory substrate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Shape 6"/>
          <p:cNvSpPr/>
          <p:nvPr/>
        </p:nvSpPr>
        <p:spPr>
          <a:xfrm>
            <a:off x="1078920" y="4096440"/>
            <a:ext cx="1755360" cy="310680"/>
          </a:xfrm>
          <a:prstGeom prst="roundRect">
            <a:avLst>
              <a:gd name="adj" fmla="val 35294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9" name="Text 7"/>
          <p:cNvSpPr/>
          <p:nvPr/>
        </p:nvSpPr>
        <p:spPr>
          <a:xfrm>
            <a:off x="1078920" y="4133160"/>
            <a:ext cx="1755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LLM WEEK PRESENTATION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Text 8"/>
          <p:cNvSpPr/>
          <p:nvPr/>
        </p:nvSpPr>
        <p:spPr>
          <a:xfrm>
            <a:off x="1097280" y="464508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00" b="0" u="none" strike="noStrike">
                <a:solidFill>
                  <a:srgbClr val="A8B7CC"/>
                </a:solidFill>
                <a:effectLst/>
                <a:uFillTx/>
                <a:latin typeface="Noto Sans CJK KR"/>
                <a:ea typeface="Noto Sans CJK KR"/>
              </a:rPr>
              <a:t>발표자 </a:t>
            </a:r>
            <a:r>
              <a:rPr lang="en-US" sz="1100" b="0" u="none" strike="noStrike">
                <a:solidFill>
                  <a:srgbClr val="A8B7CC"/>
                </a:solidFill>
                <a:effectLst/>
                <a:uFillTx/>
                <a:latin typeface="Noto Sans CJK KR"/>
                <a:ea typeface="Noto Sans CJK KR"/>
              </a:rPr>
              <a:t>· </a:t>
            </a:r>
            <a:r>
              <a:rPr lang="ko-KR" sz="1100" b="0" u="none" strike="noStrike">
                <a:solidFill>
                  <a:srgbClr val="A8B7CC"/>
                </a:solidFill>
                <a:effectLst/>
                <a:uFillTx/>
                <a:latin typeface="Noto Sans CJK KR"/>
                <a:ea typeface="Noto Sans CJK KR"/>
              </a:rPr>
              <a:t>신재용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pic>
        <p:nvPicPr>
          <p:cNvPr id="31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543800" y="1508760"/>
            <a:ext cx="1142640" cy="114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189720" y="1527120"/>
            <a:ext cx="1142640" cy="114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366760" y="3154680"/>
            <a:ext cx="114264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Shape 9"/>
          <p:cNvSpPr/>
          <p:nvPr/>
        </p:nvSpPr>
        <p:spPr>
          <a:xfrm>
            <a:off x="8366760" y="2148840"/>
            <a:ext cx="914400" cy="360"/>
          </a:xfrm>
          <a:prstGeom prst="line">
            <a:avLst/>
          </a:prstGeom>
          <a:ln w="12700">
            <a:solidFill>
              <a:srgbClr val="37506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5" name="Shape 10"/>
          <p:cNvSpPr/>
          <p:nvPr/>
        </p:nvSpPr>
        <p:spPr>
          <a:xfrm>
            <a:off x="8961120" y="2651760"/>
            <a:ext cx="360" cy="822960"/>
          </a:xfrm>
          <a:prstGeom prst="line">
            <a:avLst/>
          </a:prstGeom>
          <a:ln w="12700">
            <a:solidFill>
              <a:srgbClr val="37506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" name="Shape 11"/>
          <p:cNvSpPr/>
          <p:nvPr/>
        </p:nvSpPr>
        <p:spPr>
          <a:xfrm>
            <a:off x="7040880" y="4526280"/>
            <a:ext cx="3840120" cy="987120"/>
          </a:xfrm>
          <a:prstGeom prst="roundRect">
            <a:avLst>
              <a:gd name="adj" fmla="val 7407"/>
            </a:avLst>
          </a:prstGeom>
          <a:solidFill>
            <a:srgbClr val="13243C"/>
          </a:solidFill>
          <a:ln w="12700">
            <a:solidFill>
              <a:srgbClr val="2335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Text 12"/>
          <p:cNvSpPr/>
          <p:nvPr/>
        </p:nvSpPr>
        <p:spPr>
          <a:xfrm>
            <a:off x="7269480" y="4736520"/>
            <a:ext cx="3382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6F0FF"/>
                </a:solidFill>
                <a:effectLst/>
                <a:uFillTx/>
                <a:latin typeface="Noto Sans CJK KR"/>
                <a:ea typeface="Noto Sans CJK KR"/>
              </a:rPr>
              <a:t>Evidence · Correction · Topic · Promotion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" name="Text 13"/>
          <p:cNvSpPr/>
          <p:nvPr/>
        </p:nvSpPr>
        <p:spPr>
          <a:xfrm>
            <a:off x="7452360" y="5074920"/>
            <a:ext cx="3062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FC1E8"/>
                </a:solidFill>
                <a:effectLst/>
                <a:uFillTx/>
                <a:latin typeface="Noto Sans CJK KR"/>
                <a:ea typeface="Noto Sans CJK KR"/>
              </a:rPr>
              <a:t>memory-driven personalization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목차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AGENDA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749880" y="1417320"/>
            <a:ext cx="4983120" cy="1060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" name="Text 4"/>
          <p:cNvSpPr/>
          <p:nvPr/>
        </p:nvSpPr>
        <p:spPr>
          <a:xfrm>
            <a:off x="914400" y="1618560"/>
            <a:ext cx="502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01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 5"/>
          <p:cNvSpPr/>
          <p:nvPr/>
        </p:nvSpPr>
        <p:spPr>
          <a:xfrm>
            <a:off x="1554480" y="158184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프로젝트 배경과 목적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" name="Text 6"/>
          <p:cNvSpPr/>
          <p:nvPr/>
        </p:nvSpPr>
        <p:spPr>
          <a:xfrm>
            <a:off x="1572840" y="1901880"/>
            <a:ext cx="3794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왜 이 프로젝트를 시작했는가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749880" y="2843640"/>
            <a:ext cx="4983120" cy="1060200"/>
          </a:xfrm>
          <a:prstGeom prst="roundRect">
            <a:avLst>
              <a:gd name="adj" fmla="val 6897"/>
            </a:avLst>
          </a:prstGeom>
          <a:solidFill>
            <a:srgbClr val="F9FBFE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" name="Text 8"/>
          <p:cNvSpPr/>
          <p:nvPr/>
        </p:nvSpPr>
        <p:spPr>
          <a:xfrm>
            <a:off x="914400" y="3044880"/>
            <a:ext cx="502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02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" name="Text 9"/>
          <p:cNvSpPr/>
          <p:nvPr/>
        </p:nvSpPr>
        <p:spPr>
          <a:xfrm>
            <a:off x="1554480" y="300852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핵심 개념과 철학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1572840" y="3328560"/>
            <a:ext cx="3794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evidence-first / correction-first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" name="Shape 11"/>
          <p:cNvSpPr/>
          <p:nvPr/>
        </p:nvSpPr>
        <p:spPr>
          <a:xfrm>
            <a:off x="749880" y="4270320"/>
            <a:ext cx="4983120" cy="1060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914400" y="4471560"/>
            <a:ext cx="502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03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1554480" y="443484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시스템 구조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1572840" y="4754880"/>
            <a:ext cx="3794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입력 → 기억 → 응답 재사용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Shape 15"/>
          <p:cNvSpPr/>
          <p:nvPr/>
        </p:nvSpPr>
        <p:spPr>
          <a:xfrm>
            <a:off x="6355080" y="1417320"/>
            <a:ext cx="4983120" cy="1060200"/>
          </a:xfrm>
          <a:prstGeom prst="roundRect">
            <a:avLst>
              <a:gd name="adj" fmla="val 6897"/>
            </a:avLst>
          </a:prstGeom>
          <a:solidFill>
            <a:srgbClr val="F9FBFE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6519600" y="1618560"/>
            <a:ext cx="502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04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7159680" y="158184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구현 상태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 18"/>
          <p:cNvSpPr/>
          <p:nvPr/>
        </p:nvSpPr>
        <p:spPr>
          <a:xfrm>
            <a:off x="7178040" y="1901880"/>
            <a:ext cx="3794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개념 구현 완료 범위와 한계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Shape 19"/>
          <p:cNvSpPr/>
          <p:nvPr/>
        </p:nvSpPr>
        <p:spPr>
          <a:xfrm>
            <a:off x="6355080" y="2843640"/>
            <a:ext cx="4983120" cy="10602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6519600" y="3044880"/>
            <a:ext cx="502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05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0" name="Text 21"/>
          <p:cNvSpPr/>
          <p:nvPr/>
        </p:nvSpPr>
        <p:spPr>
          <a:xfrm>
            <a:off x="7159680" y="300852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1" name="Text 22"/>
          <p:cNvSpPr/>
          <p:nvPr/>
        </p:nvSpPr>
        <p:spPr>
          <a:xfrm>
            <a:off x="7178040" y="3328560"/>
            <a:ext cx="3794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방향성과 구조에서 맞닥뜨린 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2" name="Shape 23"/>
          <p:cNvSpPr/>
          <p:nvPr/>
        </p:nvSpPr>
        <p:spPr>
          <a:xfrm>
            <a:off x="6355080" y="4270320"/>
            <a:ext cx="4983120" cy="1060200"/>
          </a:xfrm>
          <a:prstGeom prst="roundRect">
            <a:avLst>
              <a:gd name="adj" fmla="val 6897"/>
            </a:avLst>
          </a:prstGeom>
          <a:solidFill>
            <a:srgbClr val="F9FBFE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3" name="Text 24"/>
          <p:cNvSpPr/>
          <p:nvPr/>
        </p:nvSpPr>
        <p:spPr>
          <a:xfrm>
            <a:off x="6519600" y="4471560"/>
            <a:ext cx="502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06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7159680" y="4434840"/>
            <a:ext cx="320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향후 확장과 </a:t>
            </a:r>
            <a:r>
              <a:rPr lang="en-US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 26"/>
          <p:cNvSpPr/>
          <p:nvPr/>
        </p:nvSpPr>
        <p:spPr>
          <a:xfrm>
            <a:off x="7178040" y="4754880"/>
            <a:ext cx="3794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남은 과제와 다음 단계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sldNum" idx="6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B4B941-BA79-4353-88E5-4EB773779CB7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왜 기존 대화형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LLM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만으로는 부족했는가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8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PROBLEM DEFINITION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9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749880" y="1417320"/>
            <a:ext cx="5166000" cy="170028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951120" y="1618560"/>
            <a:ext cx="502560" cy="502560"/>
          </a:xfrm>
          <a:prstGeom prst="roundRect">
            <a:avLst>
              <a:gd name="adj" fmla="val 32727"/>
            </a:avLst>
          </a:prstGeom>
          <a:solidFill>
            <a:srgbClr val="E85C5C"/>
          </a:solidFill>
          <a:ln w="12700">
            <a:solidFill>
              <a:srgbClr val="E85C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72" name="Text 5"/>
          <p:cNvSpPr/>
          <p:nvPr/>
        </p:nvSpPr>
        <p:spPr>
          <a:xfrm>
            <a:off x="1591200" y="1581840"/>
            <a:ext cx="1828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대화 로그는 남아도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이해 구조는 남지 않음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591200" y="225864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세션이 이어져도 “왜 그렇게 이해했는지”와 “무엇이 수정돼야 하는지”가 분리되어 있지 않다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282000" y="1417320"/>
            <a:ext cx="5166000" cy="170028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5" name="Shape 8"/>
          <p:cNvSpPr/>
          <p:nvPr/>
        </p:nvSpPr>
        <p:spPr>
          <a:xfrm>
            <a:off x="6483240" y="1618560"/>
            <a:ext cx="502560" cy="502560"/>
          </a:xfrm>
          <a:prstGeom prst="roundRect">
            <a:avLst>
              <a:gd name="adj" fmla="val 32727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Text 9"/>
          <p:cNvSpPr/>
          <p:nvPr/>
        </p:nvSpPr>
        <p:spPr>
          <a:xfrm>
            <a:off x="7123320" y="1581840"/>
            <a:ext cx="1828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프롬프트 이전 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개인화 이전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" name="Text 10"/>
          <p:cNvSpPr/>
          <p:nvPr/>
        </p:nvSpPr>
        <p:spPr>
          <a:xfrm>
            <a:off x="7123320" y="225864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설명 문서를 새 계정에 넣어도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모델은 그대로 이어받기보다 다시 검증하고 재해석한다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8" name="Shape 11"/>
          <p:cNvSpPr/>
          <p:nvPr/>
        </p:nvSpPr>
        <p:spPr>
          <a:xfrm>
            <a:off x="749880" y="3566160"/>
            <a:ext cx="5166000" cy="170028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9" name="Shape 12"/>
          <p:cNvSpPr/>
          <p:nvPr/>
        </p:nvSpPr>
        <p:spPr>
          <a:xfrm>
            <a:off x="951120" y="3767400"/>
            <a:ext cx="502560" cy="502560"/>
          </a:xfrm>
          <a:prstGeom prst="roundRect">
            <a:avLst>
              <a:gd name="adj" fmla="val 32727"/>
            </a:avLst>
          </a:prstGeom>
          <a:solidFill>
            <a:srgbClr val="22A06B"/>
          </a:solidFill>
          <a:ln w="12700">
            <a:solidFill>
              <a:srgbClr val="22A0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1591200" y="3730680"/>
            <a:ext cx="1828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기억은 종종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수정 불가능한 누적 로그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1" name="Text 14"/>
          <p:cNvSpPr/>
          <p:nvPr/>
        </p:nvSpPr>
        <p:spPr>
          <a:xfrm>
            <a:off x="1591200" y="440748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저장된 내용이 틀려도 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correction</a:t>
            </a: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으로 다시 깨고 재구성하는 구조가 약하다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" name="Shape 15"/>
          <p:cNvSpPr/>
          <p:nvPr/>
        </p:nvSpPr>
        <p:spPr>
          <a:xfrm>
            <a:off x="6282000" y="3566160"/>
            <a:ext cx="5166000" cy="170028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3" name="Shape 16"/>
          <p:cNvSpPr/>
          <p:nvPr/>
        </p:nvSpPr>
        <p:spPr>
          <a:xfrm>
            <a:off x="6483240" y="3767400"/>
            <a:ext cx="502560" cy="502560"/>
          </a:xfrm>
          <a:prstGeom prst="roundRect">
            <a:avLst>
              <a:gd name="adj" fmla="val 32727"/>
            </a:avLst>
          </a:prstGeom>
          <a:solidFill>
            <a:srgbClr val="7B61FF"/>
          </a:solidFill>
          <a:ln w="12700">
            <a:solidFill>
              <a:srgbClr val="7B61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7123320" y="3730680"/>
            <a:ext cx="18284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플랫폼 종속 기억은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사용자 소유가 아님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5" name="Text 18"/>
          <p:cNvSpPr/>
          <p:nvPr/>
        </p:nvSpPr>
        <p:spPr>
          <a:xfrm>
            <a:off x="7123320" y="4407480"/>
            <a:ext cx="3931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계정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회사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서비스가 바뀌면 장기 기억과 축적된 맥락도 함께 끊길 수 있다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sldNum" idx="7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6492A5-1308-482A-8C30-B31DE5CB72E8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3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프로젝트 목적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8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ORIGIN STORY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731520" y="1371600"/>
            <a:ext cx="5303160" cy="42058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Text 4"/>
          <p:cNvSpPr/>
          <p:nvPr/>
        </p:nvSpPr>
        <p:spPr>
          <a:xfrm>
            <a:off x="932760" y="162756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0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문제의 출발점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2" name="Text 5"/>
          <p:cNvSpPr/>
          <p:nvPr/>
        </p:nvSpPr>
        <p:spPr>
          <a:xfrm>
            <a:off x="941760" y="2030040"/>
            <a:ext cx="46173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퇴사 후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회사 계정으로 쓰던 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GPT</a:t>
            </a:r>
            <a:r>
              <a:rPr lang="ko-KR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 더 이상 접근할 수 없었다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기존 계정의 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GPT</a:t>
            </a:r>
            <a:r>
              <a:rPr lang="ko-KR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에게 “나를 어떻게 이해하고 있었는지 정리해달라”고 요청했다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그 문서를 새 개인 계정에 넣어도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대화가 곧바로 이어지는 것이 아니라 다시 검증부터 시작했다</a:t>
            </a:r>
            <a:r>
              <a:rPr lang="en-US" sz="15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932760" y="4041720"/>
            <a:ext cx="4736160" cy="1023840"/>
          </a:xfrm>
          <a:prstGeom prst="roundRect">
            <a:avLst>
              <a:gd name="adj" fmla="val 7143"/>
            </a:avLst>
          </a:prstGeom>
          <a:solidFill>
            <a:srgbClr val="EDF4FF"/>
          </a:solidFill>
          <a:ln w="12700">
            <a:solidFill>
              <a:srgbClr val="CFE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4" name="Text 7"/>
          <p:cNvSpPr/>
          <p:nvPr/>
        </p:nvSpPr>
        <p:spPr>
          <a:xfrm>
            <a:off x="1134000" y="4370760"/>
            <a:ext cx="4297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60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즉</a:t>
            </a:r>
            <a:r>
              <a:rPr lang="en-US" sz="160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, “</a:t>
            </a:r>
            <a:r>
              <a:rPr lang="ko-KR" sz="160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기억의 이전”이 곧 “이해의 이전”은 아니었다</a:t>
            </a:r>
            <a:r>
              <a:rPr lang="en-US" sz="160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5" name="Shape 8"/>
          <p:cNvSpPr/>
          <p:nvPr/>
        </p:nvSpPr>
        <p:spPr>
          <a:xfrm>
            <a:off x="6309360" y="1371600"/>
            <a:ext cx="5166000" cy="4205880"/>
          </a:xfrm>
          <a:prstGeom prst="roundRect">
            <a:avLst>
              <a:gd name="adj" fmla="val 1739"/>
            </a:avLst>
          </a:prstGeom>
          <a:solidFill>
            <a:srgbClr val="101B2E"/>
          </a:solidFill>
          <a:ln w="12700">
            <a:solidFill>
              <a:srgbClr val="22334E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 9"/>
          <p:cNvSpPr/>
          <p:nvPr/>
        </p:nvSpPr>
        <p:spPr>
          <a:xfrm>
            <a:off x="6583680" y="16459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0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문제의식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565320" y="2103120"/>
            <a:ext cx="658080" cy="65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 10"/>
          <p:cNvSpPr/>
          <p:nvPr/>
        </p:nvSpPr>
        <p:spPr>
          <a:xfrm>
            <a:off x="7315200" y="2221920"/>
            <a:ext cx="3474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FFF2D9"/>
                </a:solidFill>
                <a:effectLst/>
                <a:uFillTx/>
                <a:latin typeface="Noto Sans CJK KR"/>
                <a:ea typeface="Noto Sans CJK KR"/>
              </a:rPr>
              <a:t>모델의 기억에 대한 사유화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9" name="Text 11"/>
          <p:cNvSpPr/>
          <p:nvPr/>
        </p:nvSpPr>
        <p:spPr>
          <a:xfrm>
            <a:off x="6583680" y="2880360"/>
            <a:ext cx="448020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• 기억이 계정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플랫폼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회사 소유처럼 묶이면 사용자는 자신의 장기 맥락을 잃는다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• 대화 기록이 남아도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구조화된 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user model</a:t>
            </a:r>
            <a:r>
              <a:rPr lang="ko-KR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이 아니면 다른 환경으로 쉽게 이전되지 않는다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• 그래서 “내 기억을 내가 보유하고 고칠 수 있는 로컬 시스템”이 필요하다고 봤다</a:t>
            </a:r>
            <a:r>
              <a:rPr lang="en-US" sz="1470" b="0" u="none" strike="noStrike">
                <a:solidFill>
                  <a:srgbClr val="D9E6F8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6602040" y="4645080"/>
            <a:ext cx="4571640" cy="658080"/>
          </a:xfrm>
          <a:prstGeom prst="roundRect">
            <a:avLst>
              <a:gd name="adj" fmla="val 11111"/>
            </a:avLst>
          </a:prstGeom>
          <a:solidFill>
            <a:srgbClr val="173050"/>
          </a:solidFill>
          <a:ln w="12700">
            <a:solidFill>
              <a:srgbClr val="2947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6812280" y="4837320"/>
            <a:ext cx="4160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목표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: </a:t>
            </a:r>
            <a:r>
              <a:rPr lang="ko-KR" sz="12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기억을 플랫폼의 부속물이 아니라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사용자가 통제 가능한 구조로 만들기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sldNum" idx="8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E79BD0-28E5-485C-9830-29D0DF5A5014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4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핵심 아이디어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KEY CONCEPT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5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749880" y="1600200"/>
            <a:ext cx="3245760" cy="3584160"/>
          </a:xfrm>
          <a:prstGeom prst="roundRect">
            <a:avLst>
              <a:gd name="adj" fmla="val 2254"/>
            </a:avLst>
          </a:prstGeom>
          <a:solidFill>
            <a:srgbClr val="EDF4FF"/>
          </a:solidFill>
          <a:ln w="12700">
            <a:solidFill>
              <a:srgbClr val="D8E4F2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92880" y="1883520"/>
            <a:ext cx="932400" cy="93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4"/>
          <p:cNvSpPr/>
          <p:nvPr/>
        </p:nvSpPr>
        <p:spPr>
          <a:xfrm>
            <a:off x="1069920" y="29260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Evidence-first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1060560" y="3401640"/>
            <a:ext cx="26330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채팅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첨부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·ZIP artifact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곧바로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profile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로 확정하지 않고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먼저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evidence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로 저장한 뒤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tier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와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topic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을 거쳐 반영한다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4078080" y="1600200"/>
            <a:ext cx="3245760" cy="3584160"/>
          </a:xfrm>
          <a:prstGeom prst="roundRect">
            <a:avLst>
              <a:gd name="adj" fmla="val 2254"/>
            </a:avLst>
          </a:prstGeom>
          <a:solidFill>
            <a:srgbClr val="EAF9F5"/>
          </a:solidFill>
          <a:ln w="12700">
            <a:solidFill>
              <a:srgbClr val="D8E4F2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1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221080" y="1883520"/>
            <a:ext cx="932400" cy="93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7"/>
          <p:cNvSpPr/>
          <p:nvPr/>
        </p:nvSpPr>
        <p:spPr>
          <a:xfrm>
            <a:off x="4398120" y="29260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Correction-first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4389120" y="3401640"/>
            <a:ext cx="26330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잘못 형성된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profile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을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correction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으로 깨고 다시 세울 수 있어야 한다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오염을 “영구 기록”으로 두지 않는다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4" name="Shape 9"/>
          <p:cNvSpPr/>
          <p:nvPr/>
        </p:nvSpPr>
        <p:spPr>
          <a:xfrm>
            <a:off x="7406640" y="1600200"/>
            <a:ext cx="3245760" cy="3584160"/>
          </a:xfrm>
          <a:prstGeom prst="roundRect">
            <a:avLst>
              <a:gd name="adj" fmla="val 2254"/>
            </a:avLst>
          </a:prstGeom>
          <a:solidFill>
            <a:srgbClr val="F5F0FF"/>
          </a:solidFill>
          <a:ln w="12700">
            <a:solidFill>
              <a:srgbClr val="D8E4F2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5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549640" y="1883520"/>
            <a:ext cx="932400" cy="93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Text 10"/>
          <p:cNvSpPr/>
          <p:nvPr/>
        </p:nvSpPr>
        <p:spPr>
          <a:xfrm>
            <a:off x="7726680" y="29260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Revisable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7" name="Text 11"/>
          <p:cNvSpPr/>
          <p:nvPr/>
        </p:nvSpPr>
        <p:spPr>
          <a:xfrm>
            <a:off x="7717680" y="3401640"/>
            <a:ext cx="263304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confirmed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조차 절대 진실이 아니라 현재 시점의 가설이다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필요하면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rebuild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와 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demote</a:t>
            </a:r>
            <a:r>
              <a:rPr lang="ko-KR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가 가능한 구조를 지향한다</a:t>
            </a:r>
            <a:r>
              <a:rPr lang="en-US" sz="122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8" name="Shape 12"/>
          <p:cNvSpPr/>
          <p:nvPr/>
        </p:nvSpPr>
        <p:spPr>
          <a:xfrm>
            <a:off x="2486880" y="5577840"/>
            <a:ext cx="7269480" cy="360"/>
          </a:xfrm>
          <a:prstGeom prst="line">
            <a:avLst/>
          </a:prstGeom>
          <a:ln w="12700">
            <a:solidFill>
              <a:srgbClr val="BFD0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 13"/>
          <p:cNvSpPr/>
          <p:nvPr/>
        </p:nvSpPr>
        <p:spPr>
          <a:xfrm>
            <a:off x="1005840" y="5706000"/>
            <a:ext cx="10012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2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한 줄 요약  </a:t>
            </a:r>
            <a:r>
              <a:rPr lang="en-US" sz="132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·  “</a:t>
            </a:r>
            <a:r>
              <a:rPr lang="ko-KR" sz="1320" b="1" u="none" strike="noStrike">
                <a:solidFill>
                  <a:srgbClr val="123C73"/>
                </a:solidFill>
                <a:effectLst/>
                <a:uFillTx/>
                <a:latin typeface="Noto Sans CJK KR"/>
                <a:ea typeface="Noto Sans CJK KR"/>
              </a:rPr>
              <a:t>정답을 빨리 말하는 모델”보다 “나를 더 일관되게 이해하고 틀리면 다시 고칠 수 있는 로컬 시스템”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sldNum" idx="9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EED5CA-BB63-47E1-9474-870A7DB2D269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5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기존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LLM 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활용과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차이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ROLE OF THE MODEL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777240" y="1463040"/>
            <a:ext cx="5303160" cy="379440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6144840" y="1463040"/>
            <a:ext cx="5257440" cy="3794400"/>
          </a:xfrm>
          <a:prstGeom prst="roundRect">
            <a:avLst>
              <a:gd name="adj" fmla="val 1928"/>
            </a:avLst>
          </a:prstGeom>
          <a:solidFill>
            <a:srgbClr val="F2F7FF"/>
          </a:solidFill>
          <a:ln w="12700">
            <a:solidFill>
              <a:srgbClr val="D7E4F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969120" y="1700640"/>
            <a:ext cx="1554120" cy="310680"/>
          </a:xfrm>
          <a:prstGeom prst="roundRect">
            <a:avLst>
              <a:gd name="adj" fmla="val 35294"/>
            </a:avLst>
          </a:prstGeo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969120" y="1737360"/>
            <a:ext cx="1554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일반적인 챗봇 활용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6373440" y="1700640"/>
            <a:ext cx="822600" cy="310680"/>
          </a:xfrm>
          <a:prstGeom prst="roundRect">
            <a:avLst>
              <a:gd name="adj" fmla="val 35294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6373440" y="17373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0" name="Text 9"/>
          <p:cNvSpPr/>
          <p:nvPr/>
        </p:nvSpPr>
        <p:spPr>
          <a:xfrm>
            <a:off x="1005840" y="2194560"/>
            <a:ext cx="452592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프롬프트와 대화 맥락으로 그때그때 응답 생성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장기 기억은 계정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플랫폼에 종속되기 쉬움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기억이 누적 로그처럼 쌓여도 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구조는 약함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“이번 답변” 품질이 중심 지표가 되기 쉬움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1" name="Text 10"/>
          <p:cNvSpPr/>
          <p:nvPr/>
        </p:nvSpPr>
        <p:spPr>
          <a:xfrm>
            <a:off x="6382440" y="2194560"/>
            <a:ext cx="44802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LLM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은 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추출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응답 생성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retrieval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보조 역할을 맡음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핵심은 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topic / correction / promotion / rebuild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있는 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구조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입력 채널이 달라도 공통 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tier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의미론으로 수렴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중심 지표는 장기적으로 더 일관된 </a:t>
            </a:r>
            <a:r>
              <a:rPr lang="en-US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user model </a:t>
            </a:r>
            <a:r>
              <a:rPr lang="ko-KR" sz="15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형성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2834640" y="5486400"/>
            <a:ext cx="65833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3035880" y="5660280"/>
            <a:ext cx="6126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즉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MK4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는 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LLM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을 “답변 엔진”으로만 쓰지 않고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revisable memory substrate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의 일부로 배치한다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sldNum" idx="10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8B5BD3-0E6F-400E-A40E-955072EB0D81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6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시스템 전체 구조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SYSTEM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7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713160" y="1828800"/>
            <a:ext cx="2377080" cy="33372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3429000" y="1828800"/>
            <a:ext cx="3657240" cy="3337200"/>
          </a:xfrm>
          <a:prstGeom prst="roundRect">
            <a:avLst>
              <a:gd name="adj" fmla="val 2192"/>
            </a:avLst>
          </a:prstGeom>
          <a:solidFill>
            <a:srgbClr val="F3F8FF"/>
          </a:solidFill>
          <a:ln w="12700">
            <a:solidFill>
              <a:srgbClr val="D4E4F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0" name="Shape 5"/>
          <p:cNvSpPr/>
          <p:nvPr/>
        </p:nvSpPr>
        <p:spPr>
          <a:xfrm>
            <a:off x="7452360" y="1828800"/>
            <a:ext cx="3977280" cy="3337200"/>
          </a:xfrm>
          <a:prstGeom prst="roundRect">
            <a:avLst>
              <a:gd name="adj" fmla="val 2192"/>
            </a:avLst>
          </a:prstGeom>
          <a:solidFill>
            <a:srgbClr val="F9FBFE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941760" y="208476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 채널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2" name="Shape 7"/>
          <p:cNvSpPr/>
          <p:nvPr/>
        </p:nvSpPr>
        <p:spPr>
          <a:xfrm>
            <a:off x="914400" y="2541960"/>
            <a:ext cx="178272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1005840" y="2624400"/>
            <a:ext cx="15998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일반 채팅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4" name="Shape 9"/>
          <p:cNvSpPr/>
          <p:nvPr/>
        </p:nvSpPr>
        <p:spPr>
          <a:xfrm>
            <a:off x="914400" y="2999160"/>
            <a:ext cx="178272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1005840" y="3081600"/>
            <a:ext cx="15998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6" name="Shape 11"/>
          <p:cNvSpPr/>
          <p:nvPr/>
        </p:nvSpPr>
        <p:spPr>
          <a:xfrm>
            <a:off x="914400" y="3456360"/>
            <a:ext cx="178272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7" name="Text 12"/>
          <p:cNvSpPr/>
          <p:nvPr/>
        </p:nvSpPr>
        <p:spPr>
          <a:xfrm>
            <a:off x="1005840" y="3538800"/>
            <a:ext cx="15998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ZIP artifact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Shape 13"/>
          <p:cNvSpPr/>
          <p:nvPr/>
        </p:nvSpPr>
        <p:spPr>
          <a:xfrm>
            <a:off x="914400" y="3913560"/>
            <a:ext cx="178272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9" name="Text 14"/>
          <p:cNvSpPr/>
          <p:nvPr/>
        </p:nvSpPr>
        <p:spPr>
          <a:xfrm>
            <a:off x="1005840" y="3996000"/>
            <a:ext cx="15998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project </a:t>
            </a:r>
            <a:r>
              <a:rPr lang="ko-KR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질문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0" name="Shape 15"/>
          <p:cNvSpPr/>
          <p:nvPr/>
        </p:nvSpPr>
        <p:spPr>
          <a:xfrm>
            <a:off x="914400" y="4370760"/>
            <a:ext cx="1782720" cy="310680"/>
          </a:xfrm>
          <a:prstGeom prst="roundRect">
            <a:avLst>
              <a:gd name="adj" fmla="val 23529"/>
            </a:avLst>
          </a:prstGeom>
          <a:solidFill>
            <a:srgbClr val="FFF1F1"/>
          </a:solidFill>
          <a:ln w="12700">
            <a:solidFill>
              <a:srgbClr val="F2C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1" name="Text 16"/>
          <p:cNvSpPr/>
          <p:nvPr/>
        </p:nvSpPr>
        <p:spPr>
          <a:xfrm>
            <a:off x="1005840" y="4453200"/>
            <a:ext cx="1599840" cy="10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 </a:t>
            </a:r>
            <a:r>
              <a:rPr lang="ko-KR" sz="11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2" name="Text 17"/>
          <p:cNvSpPr/>
          <p:nvPr/>
        </p:nvSpPr>
        <p:spPr>
          <a:xfrm>
            <a:off x="3657600" y="2084760"/>
            <a:ext cx="1645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공통 처리 계층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3" name="Shape 18"/>
          <p:cNvSpPr/>
          <p:nvPr/>
        </p:nvSpPr>
        <p:spPr>
          <a:xfrm>
            <a:off x="3749040" y="2487240"/>
            <a:ext cx="3017160" cy="2556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D7E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4" name="Text 19"/>
          <p:cNvSpPr/>
          <p:nvPr/>
        </p:nvSpPr>
        <p:spPr>
          <a:xfrm>
            <a:off x="3913560" y="2551320"/>
            <a:ext cx="26971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 </a:t>
            </a:r>
            <a:r>
              <a:rPr lang="ko-KR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추출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5" name="Shape 20"/>
          <p:cNvSpPr/>
          <p:nvPr/>
        </p:nvSpPr>
        <p:spPr>
          <a:xfrm>
            <a:off x="3749040" y="2871360"/>
            <a:ext cx="3017160" cy="255600"/>
          </a:xfrm>
          <a:prstGeom prst="roundRect">
            <a:avLst>
              <a:gd name="adj" fmla="val 28571"/>
            </a:avLst>
          </a:prstGeom>
          <a:solidFill>
            <a:srgbClr val="EEF5FF"/>
          </a:solidFill>
          <a:ln w="12700">
            <a:solidFill>
              <a:srgbClr val="D7E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6" name="Text 21"/>
          <p:cNvSpPr/>
          <p:nvPr/>
        </p:nvSpPr>
        <p:spPr>
          <a:xfrm>
            <a:off x="3913560" y="2935080"/>
            <a:ext cx="26971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Normalization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7" name="Shape 22"/>
          <p:cNvSpPr/>
          <p:nvPr/>
        </p:nvSpPr>
        <p:spPr>
          <a:xfrm>
            <a:off x="3749040" y="3255120"/>
            <a:ext cx="3017160" cy="2556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D7E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8" name="Text 23"/>
          <p:cNvSpPr/>
          <p:nvPr/>
        </p:nvSpPr>
        <p:spPr>
          <a:xfrm>
            <a:off x="3913560" y="3319200"/>
            <a:ext cx="26971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Topic Router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9" name="Shape 24"/>
          <p:cNvSpPr/>
          <p:nvPr/>
        </p:nvSpPr>
        <p:spPr>
          <a:xfrm>
            <a:off x="3749040" y="3639240"/>
            <a:ext cx="3017160" cy="255600"/>
          </a:xfrm>
          <a:prstGeom prst="roundRect">
            <a:avLst>
              <a:gd name="adj" fmla="val 28571"/>
            </a:avLst>
          </a:prstGeom>
          <a:solidFill>
            <a:srgbClr val="EEF5FF"/>
          </a:solidFill>
          <a:ln w="12700">
            <a:solidFill>
              <a:srgbClr val="D7E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Text 25"/>
          <p:cNvSpPr/>
          <p:nvPr/>
        </p:nvSpPr>
        <p:spPr>
          <a:xfrm>
            <a:off x="3913560" y="3703320"/>
            <a:ext cx="26971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 Apply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1" name="Shape 26"/>
          <p:cNvSpPr/>
          <p:nvPr/>
        </p:nvSpPr>
        <p:spPr>
          <a:xfrm>
            <a:off x="3749040" y="4023360"/>
            <a:ext cx="3017160" cy="25560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D7E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2" name="Text 27"/>
          <p:cNvSpPr/>
          <p:nvPr/>
        </p:nvSpPr>
        <p:spPr>
          <a:xfrm>
            <a:off x="3913560" y="4087440"/>
            <a:ext cx="26971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Promotion / Rebuild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3" name="Shape 28"/>
          <p:cNvSpPr/>
          <p:nvPr/>
        </p:nvSpPr>
        <p:spPr>
          <a:xfrm>
            <a:off x="3749040" y="4407480"/>
            <a:ext cx="3017160" cy="255600"/>
          </a:xfrm>
          <a:prstGeom prst="roundRect">
            <a:avLst>
              <a:gd name="adj" fmla="val 28571"/>
            </a:avLst>
          </a:prstGeom>
          <a:solidFill>
            <a:srgbClr val="EEF5FF"/>
          </a:solidFill>
          <a:ln w="12700">
            <a:solidFill>
              <a:srgbClr val="D7E4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4" name="Text 29"/>
          <p:cNvSpPr/>
          <p:nvPr/>
        </p:nvSpPr>
        <p:spPr>
          <a:xfrm>
            <a:off x="3913560" y="4471560"/>
            <a:ext cx="269712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Response Retrieval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5" name="Text 30"/>
          <p:cNvSpPr/>
          <p:nvPr/>
        </p:nvSpPr>
        <p:spPr>
          <a:xfrm>
            <a:off x="7680960" y="208476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저장 </a:t>
            </a:r>
            <a:r>
              <a:rPr lang="en-US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재사용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6" name="Shape 31"/>
          <p:cNvSpPr/>
          <p:nvPr/>
        </p:nvSpPr>
        <p:spPr>
          <a:xfrm>
            <a:off x="7772400" y="2560320"/>
            <a:ext cx="1416960" cy="456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7" name="Text 32"/>
          <p:cNvSpPr/>
          <p:nvPr/>
        </p:nvSpPr>
        <p:spPr>
          <a:xfrm>
            <a:off x="7900560" y="2715840"/>
            <a:ext cx="114264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Topics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8" name="Shape 33"/>
          <p:cNvSpPr/>
          <p:nvPr/>
        </p:nvSpPr>
        <p:spPr>
          <a:xfrm>
            <a:off x="9464040" y="2560320"/>
            <a:ext cx="1416960" cy="456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9" name="Text 34"/>
          <p:cNvSpPr/>
          <p:nvPr/>
        </p:nvSpPr>
        <p:spPr>
          <a:xfrm>
            <a:off x="9592200" y="2715840"/>
            <a:ext cx="114264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Profiles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0" name="Shape 35"/>
          <p:cNvSpPr/>
          <p:nvPr/>
        </p:nvSpPr>
        <p:spPr>
          <a:xfrm>
            <a:off x="7772400" y="3255120"/>
            <a:ext cx="1416960" cy="456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1" name="Text 36"/>
          <p:cNvSpPr/>
          <p:nvPr/>
        </p:nvSpPr>
        <p:spPr>
          <a:xfrm>
            <a:off x="7900560" y="3410640"/>
            <a:ext cx="114264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Corrections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2" name="Shape 37"/>
          <p:cNvSpPr/>
          <p:nvPr/>
        </p:nvSpPr>
        <p:spPr>
          <a:xfrm>
            <a:off x="9464040" y="3255120"/>
            <a:ext cx="1416960" cy="456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3" name="Text 38"/>
          <p:cNvSpPr/>
          <p:nvPr/>
        </p:nvSpPr>
        <p:spPr>
          <a:xfrm>
            <a:off x="9592200" y="3410640"/>
            <a:ext cx="114264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Episodes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4" name="Shape 39"/>
          <p:cNvSpPr/>
          <p:nvPr/>
        </p:nvSpPr>
        <p:spPr>
          <a:xfrm>
            <a:off x="7772400" y="3950280"/>
            <a:ext cx="1416960" cy="456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5" name="Text 40"/>
          <p:cNvSpPr/>
          <p:nvPr/>
        </p:nvSpPr>
        <p:spPr>
          <a:xfrm>
            <a:off x="7900560" y="4105800"/>
            <a:ext cx="114264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States / Summaries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6" name="Shape 41"/>
          <p:cNvSpPr/>
          <p:nvPr/>
        </p:nvSpPr>
        <p:spPr>
          <a:xfrm>
            <a:off x="9464040" y="3950280"/>
            <a:ext cx="1416960" cy="456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7" name="Text 42"/>
          <p:cNvSpPr/>
          <p:nvPr/>
        </p:nvSpPr>
        <p:spPr>
          <a:xfrm>
            <a:off x="9592200" y="4105800"/>
            <a:ext cx="114264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Projects / Chunks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8" name="Shape 43"/>
          <p:cNvSpPr/>
          <p:nvPr/>
        </p:nvSpPr>
        <p:spPr>
          <a:xfrm>
            <a:off x="3063240" y="3447000"/>
            <a:ext cx="274320" cy="360"/>
          </a:xfrm>
          <a:prstGeom prst="line">
            <a:avLst/>
          </a:prstGeom>
          <a:ln w="12700">
            <a:solidFill>
              <a:srgbClr val="2C6FD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9" name="Shape 44"/>
          <p:cNvSpPr/>
          <p:nvPr/>
        </p:nvSpPr>
        <p:spPr>
          <a:xfrm>
            <a:off x="7086600" y="3447000"/>
            <a:ext cx="274320" cy="360"/>
          </a:xfrm>
          <a:prstGeom prst="line">
            <a:avLst/>
          </a:prstGeom>
          <a:ln w="12700">
            <a:solidFill>
              <a:srgbClr val="2C6FD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0" name="Shape 45"/>
          <p:cNvSpPr/>
          <p:nvPr/>
        </p:nvSpPr>
        <p:spPr>
          <a:xfrm>
            <a:off x="3611880" y="5440680"/>
            <a:ext cx="443448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81" name="Text 46"/>
          <p:cNvSpPr/>
          <p:nvPr/>
        </p:nvSpPr>
        <p:spPr>
          <a:xfrm>
            <a:off x="3803760" y="5614560"/>
            <a:ext cx="4068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8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입력 채널은 다르지만</a:t>
            </a: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8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기억으로 들어갈 때는 같은 의미론으로 수렴해야 한다</a:t>
            </a:r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2" name="PlaceHolder 1"/>
          <p:cNvSpPr>
            <a:spLocks noGrp="1"/>
          </p:cNvSpPr>
          <p:nvPr>
            <p:ph type="sldNum" idx="11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4944FE-9A35-42FB-923F-D2D3F3B4BFED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6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핵심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 pipeline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INPUT → EVIDENCE → REUSE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640080" y="2194560"/>
            <a:ext cx="1599840" cy="1554120"/>
          </a:xfrm>
          <a:prstGeom prst="roundRect">
            <a:avLst>
              <a:gd name="adj" fmla="val 4706"/>
            </a:avLst>
          </a:prstGeom>
          <a:solidFill>
            <a:srgbClr val="EDF4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749880" y="2414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749880" y="279792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chat / attachment / artifact / correction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9" name="Shape 6"/>
          <p:cNvSpPr/>
          <p:nvPr/>
        </p:nvSpPr>
        <p:spPr>
          <a:xfrm>
            <a:off x="2286000" y="2706480"/>
            <a:ext cx="164160" cy="310680"/>
          </a:xfrm>
          <a:prstGeom prst="chevron">
            <a:avLst>
              <a:gd name="adj" fmla="val 50000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90" name="Shape 7"/>
          <p:cNvSpPr/>
          <p:nvPr/>
        </p:nvSpPr>
        <p:spPr>
          <a:xfrm>
            <a:off x="2541960" y="2194560"/>
            <a:ext cx="1599840" cy="1554120"/>
          </a:xfrm>
          <a:prstGeom prst="roundRect">
            <a:avLst>
              <a:gd name="adj" fmla="val 4706"/>
            </a:avLst>
          </a:prstGeom>
          <a:solidFill>
            <a:srgbClr val="F4F8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1" name="Text 8"/>
          <p:cNvSpPr/>
          <p:nvPr/>
        </p:nvSpPr>
        <p:spPr>
          <a:xfrm>
            <a:off x="2651760" y="2414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 </a:t>
            </a:r>
            <a:r>
              <a:rPr lang="ko-KR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추출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2" name="Text 9"/>
          <p:cNvSpPr/>
          <p:nvPr/>
        </p:nvSpPr>
        <p:spPr>
          <a:xfrm>
            <a:off x="2651760" y="279792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원문을 곧바로 </a:t>
            </a: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profile</a:t>
            </a:r>
            <a:r>
              <a:rPr lang="ko-KR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로 확정하지 않음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4187880" y="2706480"/>
            <a:ext cx="164160" cy="310680"/>
          </a:xfrm>
          <a:prstGeom prst="chevron">
            <a:avLst>
              <a:gd name="adj" fmla="val 50000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4443840" y="2194560"/>
            <a:ext cx="1599840" cy="1554120"/>
          </a:xfrm>
          <a:prstGeom prst="roundRect">
            <a:avLst>
              <a:gd name="adj" fmla="val 4706"/>
            </a:avLst>
          </a:prstGeom>
          <a:solidFill>
            <a:srgbClr val="F7FB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5" name="Text 12"/>
          <p:cNvSpPr/>
          <p:nvPr/>
        </p:nvSpPr>
        <p:spPr>
          <a:xfrm>
            <a:off x="4553640" y="2414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정규화</a:t>
            </a:r>
            <a:r>
              <a:rPr lang="en-US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·topic </a:t>
            </a:r>
            <a:r>
              <a:rPr lang="ko-KR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결정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4553640" y="279792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active topic </a:t>
            </a:r>
            <a:r>
              <a:rPr lang="ko-KR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유지 </a:t>
            </a: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 attach / create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6089760" y="2706480"/>
            <a:ext cx="164160" cy="310680"/>
          </a:xfrm>
          <a:prstGeom prst="chevron">
            <a:avLst>
              <a:gd name="adj" fmla="val 50000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6346080" y="2194560"/>
            <a:ext cx="1599840" cy="1554120"/>
          </a:xfrm>
          <a:prstGeom prst="roundRect">
            <a:avLst>
              <a:gd name="adj" fmla="val 4706"/>
            </a:avLst>
          </a:prstGeom>
          <a:solidFill>
            <a:srgbClr val="F4FFF9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99" name="Text 16"/>
          <p:cNvSpPr/>
          <p:nvPr/>
        </p:nvSpPr>
        <p:spPr>
          <a:xfrm>
            <a:off x="6455520" y="2414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tier </a:t>
            </a:r>
            <a:r>
              <a:rPr lang="ko-KR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반영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0" name="Text 17"/>
          <p:cNvSpPr/>
          <p:nvPr/>
        </p:nvSpPr>
        <p:spPr>
          <a:xfrm>
            <a:off x="6455520" y="279792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general / candidate / confirmed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7992000" y="2706480"/>
            <a:ext cx="164160" cy="310680"/>
          </a:xfrm>
          <a:prstGeom prst="chevron">
            <a:avLst>
              <a:gd name="adj" fmla="val 50000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8247960" y="2194560"/>
            <a:ext cx="1599840" cy="1554120"/>
          </a:xfrm>
          <a:prstGeom prst="roundRect">
            <a:avLst>
              <a:gd name="adj" fmla="val 4706"/>
            </a:avLst>
          </a:prstGeom>
          <a:solidFill>
            <a:srgbClr val="FFF9F0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3" name="Text 20"/>
          <p:cNvSpPr/>
          <p:nvPr/>
        </p:nvSpPr>
        <p:spPr>
          <a:xfrm>
            <a:off x="8357760" y="2414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promotion / rebuild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4" name="Text 21"/>
          <p:cNvSpPr/>
          <p:nvPr/>
        </p:nvSpPr>
        <p:spPr>
          <a:xfrm>
            <a:off x="8357760" y="279792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repeat / confidence / correction </a:t>
            </a:r>
            <a:r>
              <a:rPr lang="ko-KR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반영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9893880" y="2706480"/>
            <a:ext cx="164160" cy="310680"/>
          </a:xfrm>
          <a:prstGeom prst="chevron">
            <a:avLst>
              <a:gd name="adj" fmla="val 50000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06" name="Shape 23"/>
          <p:cNvSpPr/>
          <p:nvPr/>
        </p:nvSpPr>
        <p:spPr>
          <a:xfrm>
            <a:off x="10149840" y="2194560"/>
            <a:ext cx="1599840" cy="1554120"/>
          </a:xfrm>
          <a:prstGeom prst="roundRect">
            <a:avLst>
              <a:gd name="adj" fmla="val 4706"/>
            </a:avLst>
          </a:prstGeom>
          <a:solidFill>
            <a:srgbClr val="F7F2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7" name="Text 24"/>
          <p:cNvSpPr/>
          <p:nvPr/>
        </p:nvSpPr>
        <p:spPr>
          <a:xfrm>
            <a:off x="10259640" y="241416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다음 턴 재사용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8" name="Text 25"/>
          <p:cNvSpPr/>
          <p:nvPr/>
        </p:nvSpPr>
        <p:spPr>
          <a:xfrm>
            <a:off x="10259640" y="2797920"/>
            <a:ext cx="1371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retrieval + response building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09" name="Text 26"/>
          <p:cNvSpPr/>
          <p:nvPr/>
        </p:nvSpPr>
        <p:spPr>
          <a:xfrm>
            <a:off x="868680" y="431604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tier </a:t>
            </a:r>
            <a:r>
              <a:rPr lang="ko-KR" sz="16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의미론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0" name="Shape 27"/>
          <p:cNvSpPr/>
          <p:nvPr/>
        </p:nvSpPr>
        <p:spPr>
          <a:xfrm>
            <a:off x="868680" y="4617720"/>
            <a:ext cx="3245760" cy="877320"/>
          </a:xfrm>
          <a:prstGeom prst="roundRect">
            <a:avLst>
              <a:gd name="adj" fmla="val 8333"/>
            </a:avLst>
          </a:prstGeom>
          <a:solidFill>
            <a:srgbClr val="EAF2FF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996840" y="4773240"/>
            <a:ext cx="840960" cy="310680"/>
          </a:xfrm>
          <a:prstGeom prst="roundRect">
            <a:avLst>
              <a:gd name="adj" fmla="val 35294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2" name="Text 29"/>
          <p:cNvSpPr/>
          <p:nvPr/>
        </p:nvSpPr>
        <p:spPr>
          <a:xfrm>
            <a:off x="996840" y="4809600"/>
            <a:ext cx="840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general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3" name="Text 30"/>
          <p:cNvSpPr/>
          <p:nvPr/>
        </p:nvSpPr>
        <p:spPr>
          <a:xfrm>
            <a:off x="1929240" y="4827960"/>
            <a:ext cx="1901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저장 가치는 있지만 기본 응답에는 주입하지 않는 층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4" name="Shape 31"/>
          <p:cNvSpPr/>
          <p:nvPr/>
        </p:nvSpPr>
        <p:spPr>
          <a:xfrm>
            <a:off x="4617720" y="4617720"/>
            <a:ext cx="3245760" cy="877320"/>
          </a:xfrm>
          <a:prstGeom prst="roundRect">
            <a:avLst>
              <a:gd name="adj" fmla="val 8333"/>
            </a:avLst>
          </a:prstGeom>
          <a:solidFill>
            <a:srgbClr val="EAF9F5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5" name="Shape 32"/>
          <p:cNvSpPr/>
          <p:nvPr/>
        </p:nvSpPr>
        <p:spPr>
          <a:xfrm>
            <a:off x="4745880" y="4773240"/>
            <a:ext cx="840960" cy="310680"/>
          </a:xfrm>
          <a:prstGeom prst="roundRect">
            <a:avLst>
              <a:gd name="adj" fmla="val 35294"/>
            </a:avLst>
          </a:prstGeom>
          <a:solidFill>
            <a:srgbClr val="179D8E"/>
          </a:solidFill>
          <a:ln w="12700">
            <a:solidFill>
              <a:srgbClr val="179D8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16" name="Text 33"/>
          <p:cNvSpPr/>
          <p:nvPr/>
        </p:nvSpPr>
        <p:spPr>
          <a:xfrm>
            <a:off x="4745880" y="4809600"/>
            <a:ext cx="840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candidate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7" name="Text 34"/>
          <p:cNvSpPr/>
          <p:nvPr/>
        </p:nvSpPr>
        <p:spPr>
          <a:xfrm>
            <a:off x="5678280" y="4827960"/>
            <a:ext cx="1901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승격 후보로 누적되는 </a:t>
            </a:r>
            <a:r>
              <a:rPr lang="en-US" sz="11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 </a:t>
            </a:r>
            <a:r>
              <a:rPr lang="ko-KR" sz="11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층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8" name="Shape 35"/>
          <p:cNvSpPr/>
          <p:nvPr/>
        </p:nvSpPr>
        <p:spPr>
          <a:xfrm>
            <a:off x="8366760" y="4617720"/>
            <a:ext cx="3245760" cy="877320"/>
          </a:xfrm>
          <a:prstGeom prst="roundRect">
            <a:avLst>
              <a:gd name="adj" fmla="val 8333"/>
            </a:avLst>
          </a:prstGeom>
          <a:solidFill>
            <a:srgbClr val="FFF5E8"/>
          </a:solidFill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9" name="Shape 36"/>
          <p:cNvSpPr/>
          <p:nvPr/>
        </p:nvSpPr>
        <p:spPr>
          <a:xfrm>
            <a:off x="8494920" y="4773240"/>
            <a:ext cx="840960" cy="310680"/>
          </a:xfrm>
          <a:prstGeom prst="roundRect">
            <a:avLst>
              <a:gd name="adj" fmla="val 35294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0" name="Text 37"/>
          <p:cNvSpPr/>
          <p:nvPr/>
        </p:nvSpPr>
        <p:spPr>
          <a:xfrm>
            <a:off x="8494920" y="4809600"/>
            <a:ext cx="840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confirmed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1" name="Text 38"/>
          <p:cNvSpPr/>
          <p:nvPr/>
        </p:nvSpPr>
        <p:spPr>
          <a:xfrm>
            <a:off x="9427320" y="4827960"/>
            <a:ext cx="1901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모델이 보고 있는 가설적 사용자상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2" name="PlaceHolder 1"/>
          <p:cNvSpPr>
            <a:spLocks noGrp="1"/>
          </p:cNvSpPr>
          <p:nvPr>
            <p:ph type="sldNum" idx="12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EDD76E-11D0-4079-9620-F597F660E26E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8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구현 상태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WHAT IS ALREADY BUILT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6" name="Shape 3"/>
          <p:cNvSpPr/>
          <p:nvPr/>
        </p:nvSpPr>
        <p:spPr>
          <a:xfrm>
            <a:off x="749880" y="1417320"/>
            <a:ext cx="6400440" cy="452592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960120" y="1673280"/>
            <a:ext cx="2925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0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개념 구현이 실제 코드로 내려온 부분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969120" y="2057400"/>
            <a:ext cx="566892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일반 채팅 </a:t>
            </a: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 </a:t>
            </a: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 ZIP artifact / project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질문 경로 분리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TopicRouter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기반 </a:t>
            </a: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active topic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유지 </a:t>
            </a: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 attach / create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EvidenceNormalizationService + MemoryIngressService + MemoryApplyService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general / candidate / confirmed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분기와 </a:t>
            </a: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promotion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구조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Correction target kind(profile / topic_fact / response_behavior) 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분류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semantic retrieval, response continuation, project chunk retrieval 1</a:t>
            </a:r>
            <a:r>
              <a:rPr lang="ko-KR" sz="15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차 반영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7406640" y="1417320"/>
            <a:ext cx="4023000" cy="2029680"/>
          </a:xfrm>
          <a:prstGeom prst="roundRect">
            <a:avLst>
              <a:gd name="adj" fmla="val 3604"/>
            </a:avLst>
          </a:prstGeom>
          <a:solidFill>
            <a:srgbClr val="F3F8FF"/>
          </a:solidFill>
          <a:ln w="12700">
            <a:solidFill>
              <a:srgbClr val="D4E4F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7662600" y="166428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사용 기술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1" name="Text 8"/>
          <p:cNvSpPr/>
          <p:nvPr/>
        </p:nvSpPr>
        <p:spPr>
          <a:xfrm>
            <a:off x="7644240" y="2011680"/>
            <a:ext cx="33372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Python / FastAPI / SQLite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Ollama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sentence-transformers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NumPy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로컬 실행 중심 구조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2" name="Shape 9"/>
          <p:cNvSpPr/>
          <p:nvPr/>
        </p:nvSpPr>
        <p:spPr>
          <a:xfrm>
            <a:off x="7406640" y="3675960"/>
            <a:ext cx="4023000" cy="2267280"/>
          </a:xfrm>
          <a:prstGeom prst="roundRect">
            <a:avLst>
              <a:gd name="adj" fmla="val 3226"/>
            </a:avLst>
          </a:prstGeom>
          <a:solidFill>
            <a:srgbClr val="FFF9F0"/>
          </a:solidFill>
          <a:ln w="12700">
            <a:solidFill>
              <a:srgbClr val="F6D7A8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3" name="Text 10"/>
          <p:cNvSpPr/>
          <p:nvPr/>
        </p:nvSpPr>
        <p:spPr>
          <a:xfrm>
            <a:off x="7662600" y="3913560"/>
            <a:ext cx="1508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단계 판단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4" name="Text 11"/>
          <p:cNvSpPr/>
          <p:nvPr/>
        </p:nvSpPr>
        <p:spPr>
          <a:xfrm>
            <a:off x="7653600" y="4297680"/>
            <a:ext cx="338292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개념적 구현은 상당 부분 완료</a:t>
            </a:r>
            <a:r>
              <a:rPr lang="en-US" sz="14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지금부터는 “구조를 더 만드는 단계”보다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“일반 채팅 품질과 재사용 품질을 끌어올리는 단계”에 가깝다</a:t>
            </a:r>
            <a:r>
              <a:rPr lang="en-US" sz="140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5" name="PlaceHolder 1"/>
          <p:cNvSpPr>
            <a:spLocks noGrp="1"/>
          </p:cNvSpPr>
          <p:nvPr>
            <p:ph type="sldNum" idx="13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C5F891-C77C-42DD-A3AA-64C7266039DE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9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28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03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7" name="Text 31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8" name="Shape 21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9" name="Shape 25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0" name="Text 35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입력 채널별로 기억 의미론이 갈라지던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1" name="Text 39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2" name="Shape 29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3" name="Text 41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일반 채팅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프로젝트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artifact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서로 다른 시스템처럼 취급되는 경향이 있어 아예 다른 브랜치처럼 분리되기 쉬웠다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4" name="Text 43"/>
          <p:cNvSpPr/>
          <p:nvPr/>
        </p:nvSpPr>
        <p:spPr>
          <a:xfrm>
            <a:off x="960120" y="3200400"/>
            <a:ext cx="24501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채팅은 임시 업데이트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첨부 텍스트는 별도 </a:t>
            </a: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preview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프로젝트 </a:t>
            </a: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ZIP</a:t>
            </a:r>
            <a:r>
              <a:rPr lang="ko-KR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은 </a:t>
            </a: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project </a:t>
            </a:r>
            <a:r>
              <a:rPr lang="ko-KR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분석 전용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5" name="Text 44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6" name="Shape 30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7" name="Text 45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같은 의미가 채팅에서는 버려지고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첨부에서는 후보가 되고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프로젝트에서는 다른 규칙으로 저장되는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8" name="Text 47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49" name="Shape 34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0" name="Text 48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 채널은 달라도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기억으로 들어갈 때는 공통 의미론으로 수렴시켜야 한다는 방향으로 바꿨다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핵심 원칙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: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1" name="Text 49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채널은 다를 수 있다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하지만 기억의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tier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의미는 최대한 같아야 한다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general / candidate / confirmed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의 해석은 전 채널에서 일관되어야 한다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2" name="Text 50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3" name="Shape 38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4" name="Text 51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 채널 분리는 기술적 편의일 뿐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의미론 분리의 근거가 될 수 없다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5" name="Shape 40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56" name="Text 52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입력 채널 분리는 기술적 편의일 뿐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의미론 분리의 근거가 될 수 없다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7" name="PlaceHolder 1"/>
          <p:cNvSpPr>
            <a:spLocks noGrp="1"/>
          </p:cNvSpPr>
          <p:nvPr>
            <p:ph type="sldNum" idx="14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E081A4-DD6F-4DE3-BF56-3DC84D6637B0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10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53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04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9" name="Text 54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0" name="Shape 4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1" name="Shape 46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2" name="Text 55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preview-first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가 실제 업데이트를 가로막던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3" name="Text 56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4" name="Shape 47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5" name="Text 57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텍스트를 이용한 프로필 형성 요청이 한동안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분석해주는 응답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만 만들고 실제 기억에는 거의 반영되지 않는 구조로 흘렀다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6" name="Text 58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7" name="Shape 48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8" name="Text 59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지금은 잘 말하는 것처럼 보임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하지만 다음 대화에서는 그 결과가 남지 않음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결국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이해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가 아니라 일회성 해석문 생성에 머무름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9" name="Text 60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0" name="Shape 49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1" name="Text 61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preview-first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에서 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update-first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로 전환했다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핵심 흐름은 다음과 같이 재정렬되었다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2" name="Text 62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source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저장하고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relevant passage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고르고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evidence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추출하고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3" name="Text 63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4" name="Shape 50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5" name="Text 64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에서 첨부 기반 프로필 요청은 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설명 서비스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아니라 실제 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 update 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이벤트여야 한다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6" name="Shape 51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77" name="Text 65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에서 첨부 기반 프로필 요청은 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설명 서비스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가 아니라 실제 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memory update 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이벤트여야 한다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78" name="PlaceHolder 1"/>
          <p:cNvSpPr>
            <a:spLocks noGrp="1"/>
          </p:cNvSpPr>
          <p:nvPr>
            <p:ph type="sldNum" idx="15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E3CDDA-D82C-474B-8D7D-CCA1F3D3EF0A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11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66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08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0" name="Text 67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1" name="Shape 5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2" name="Shape 53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3" name="Text 68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저장된 </a:t>
            </a: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너무 쉽게 믿던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4" name="Text 69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5" name="Shape 54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6" name="Text 70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한동안 저장된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를 거의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참인 정보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처럼 바로 주입하면서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예전 오염이나 잘못된 해석이 현재 응답을 덮어쓰는 일이 생겼다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7" name="Text 71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8" name="Shape 55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9" name="Text 72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오래된 잘못된 응답 스타일이 계속 재주입됨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correction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보다 과거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profile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이 더 강하게 작동함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system prompt 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냄새가 나는 긴 문장이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인 척 들어감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0" name="Text 73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1" name="Shape 56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2" name="Text 74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기억을 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신뢰 가능한 사실 저장소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아니라 검증과 필터링이 필요한 가설 저장소로 취급하도록 바꿨다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원칙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: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3" name="Text 75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저장된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도 검증 대상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correction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이 있으면 이전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profile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보다 우선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주입 전 최소한의 위생 필터 필요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4" name="Text 76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5" name="Shape 57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6" name="Text 77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기억을 무조건 믿는 순간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MK4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는 학습 시스템이 아니라 과거 오류의 증폭기가 된다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7" name="Shape 58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298" name="Text 78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기억을 무조건 믿는 순간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MK4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는 학습 시스템이 아니라 과거 오류의 증폭기가 된다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sldNum" idx="16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B13FB8-DC06-4F96-BF13-4DD1EA97D6AE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12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79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09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1" name="Text 80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2" name="Shape 59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3" name="Shape 60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4" name="Text 81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topic 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구조가 약해서 대화 의미 축이 흔들리던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5" name="Text 82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6" name="Shape 61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7" name="Text 83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초기에는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topic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이 단순 문자열 라벨처럼 취급되거나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general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로 뭉개지는 경우가 많았다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8" name="Text 84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9" name="Shape 62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0" name="Text 85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서로 다른 의미 축이 같은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bucket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에 쌓임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correction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이 어느 범위에 적용되는지 모호해짐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active topic 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유지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전환 판단이 불명확해짐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"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이 정보가 무엇에 대한 기억인가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가 흐려짐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1" name="Text 86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2" name="Shape 63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3" name="Text 87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topic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을 단순 꼬리표가 아니라 의미 축 객체로 다루는 방향으로 바꿨다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핵심 변화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: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4" name="Text 88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active topic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유지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기존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topic attach /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새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topic create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판단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topic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과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project_id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분리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topic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은 의미 축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, project_id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는 출처 축으로 구분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5" name="Text 89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6" name="Shape 64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7" name="Text 90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에서 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topic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은 분류용 문자열이 아니라 기억의 적용 범위를 정하는 핵심 좌표축이다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18" name="Shape 65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19" name="Text 91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에서 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topic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은 분류용 문자열이 아니라 기억의 적용 범위를 정하는 핵심 좌표축이다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0" name="PlaceHolder 1"/>
          <p:cNvSpPr>
            <a:spLocks noGrp="1"/>
          </p:cNvSpPr>
          <p:nvPr>
            <p:ph type="sldNum" idx="17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0D5781-AD69-4F5F-A1C7-E4304C19FF98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13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92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10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2" name="Text 93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3" name="Shape 66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4" name="Shape 67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5" name="Text 94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일반 </a:t>
            </a: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후보 </a:t>
            </a: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확정 경계가 채널마다 달라지던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6" name="Text 95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7" name="Shape 68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8" name="Text 96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candidate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와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confirmed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의미가 채널마다 다르게 해석될 위험이 있었다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9" name="Text 97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0" name="Shape 69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1" name="Text 98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채팅에서는 일반 정보로만 남고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첨부에서는 후보가 되고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project artifact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에서는 거의 확정처럼 작동한다면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2" name="Text 99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3" name="Shape 70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4" name="Text 100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tier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의미를 가능한 한 통일하는 쪽으로 재정렬했다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현재 지향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: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추가 원칙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: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5" name="Text 101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일반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: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저장 가치는 있지만 기본 주입 대상은 아님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후보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: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승격 가능성이 있는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evidence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집합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확정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: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현재 사용자 모델에 반영되는 층위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6" name="Text 102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7" name="Shape 71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8" name="Text 103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기억 계층은 채널별 편의 규칙이 아니라 시스템 전체에서 같은 뜻을 가져야 한다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9" name="Shape 72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40" name="Text 104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기억 계층은 채널별 편의 규칙이 아니라 시스템 전체에서 같은 뜻을 가져야 한다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1" name="PlaceHolder 1"/>
          <p:cNvSpPr>
            <a:spLocks noGrp="1"/>
          </p:cNvSpPr>
          <p:nvPr>
            <p:ph type="sldNum" idx="18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49A3C2-59C6-4358-A9D7-00FC2DAB33DD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14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ext 105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13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3" name="Text 106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4" name="Shape 73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5" name="Shape 74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6" name="Text 107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텍스트 첨부 답변이 템플릿처럼 느껴지던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7" name="Text 108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8" name="Shape 75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49" name="Text 109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 기반 응답이 실제 대화처럼 생성되지 않고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미리 짜둔 템플릿처럼 반복되던 시기가 있었다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0" name="Text 110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1" name="Shape 76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2" name="Text 111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답변이 지나치게 기계적이라 품질 신뢰가 떨어짐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템플릿 구조가 바뀐 메모리 상태를 충분히 반영하지 못함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3" name="Text 112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4" name="Shape 77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5" name="Text 113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최종 답변도 모델이 생성하도록 바꾸고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템플릿은 설명용 보조 구조에서만 쓰는 방향으로 조정했다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6" name="Text 114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7" name="Shape 78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8" name="Text 115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는 정해진 문구를 뱉는 시스템이 아니라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갱신된 근거를 바탕으로 그때그때 말할 수 있어야 하는 시스템이다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9" name="Shape 79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60" name="Text 116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는 정해진 문구를 뱉는 시스템이 아니라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갱신된 근거를 바탕으로 그때그때 말할 수 있어야 하는 시스템이다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1" name="PlaceHolder 1"/>
          <p:cNvSpPr>
            <a:spLocks noGrp="1"/>
          </p:cNvSpPr>
          <p:nvPr>
            <p:ph type="sldNum" idx="19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445F54-BDD7-4347-8335-6DA1CE738E29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15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117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14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3" name="Text 118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4" name="Shape 80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5" name="Shape 81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6" name="Text 119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사용자 질문을 그대로 복사하는 답변이 나오던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7" name="Text 120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8" name="Shape 82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9" name="Text 121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특히 첨부 기반 경로에서 사용자의 질문을 거의 그대로 되받아 말하는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echo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문제가 있었다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0" name="Text 122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1" name="Shape 83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2" name="Text 123"/>
          <p:cNvSpPr/>
          <p:nvPr/>
        </p:nvSpPr>
        <p:spPr>
          <a:xfrm>
            <a:off x="4096440" y="2331720"/>
            <a:ext cx="7113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이런 답변은 실제 이해가 아니라 입력 복제를 보여준다</a:t>
            </a:r>
            <a:r>
              <a:rPr lang="en-US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작은 모델일수록 더 자주 발생했고</a:t>
            </a:r>
            <a:r>
              <a:rPr lang="en-US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prompt</a:t>
            </a:r>
            <a:r>
              <a:rPr lang="ko-KR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길수록 더 심해졌다</a:t>
            </a:r>
            <a:r>
              <a:rPr lang="en-US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3" name="Text 124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4" name="Shape 84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5" name="Text 125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답변 입력에 질문 원문 전체를 그대로 넘기기보다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질문의 요지를 요약해서 전달하는 방향으로 바꿨다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 </a:t>
            </a: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또한 명시적으로 다음 원칙을 세웠다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6" name="Text 126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사용자 문장을 그대로 베껴 답하지 않는다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인칭 표현을 기계적으로 따라 쓰지 않는다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첨부 기반 답변도 일반 대화와 같은 화자 일관성을 유지한다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7" name="Text 127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8" name="Shape 85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9" name="Text 128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질문 복사는 이해의 신호가 아니라 입력 설계 실패의 신호다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0" name="Shape 86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81" name="Text 129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질문 복사는 이해의 신호가 아니라 입력 설계 실패의 신호다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2" name="PlaceHolder 1"/>
          <p:cNvSpPr>
            <a:spLocks noGrp="1"/>
          </p:cNvSpPr>
          <p:nvPr>
            <p:ph type="sldNum" idx="20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C5333B-73EC-43F7-97F7-07ADF49D094A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16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ext 130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15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4" name="Text 131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5" name="Shape 87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6" name="Shape 88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7" name="Text 132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인칭과 말투가 흔들리던 문제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8" name="Text 133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9" name="Shape 89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0" name="Text 134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프로필 경로에서 특히 다음 문제가 반복되었다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1" name="Text 135"/>
          <p:cNvSpPr/>
          <p:nvPr/>
        </p:nvSpPr>
        <p:spPr>
          <a:xfrm>
            <a:off x="960120" y="3200400"/>
            <a:ext cx="24501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나</a:t>
            </a: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너 기준이 뒤섞임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존댓말과 반말이 섞임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일반 대화와 첨부 답변의 말투가 다른 사람처럼 느껴짐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2" name="Text 136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3" name="Shape 90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4" name="Text 137"/>
          <p:cNvSpPr/>
          <p:nvPr/>
        </p:nvSpPr>
        <p:spPr>
          <a:xfrm>
            <a:off x="4096440" y="2331720"/>
            <a:ext cx="71136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핵심은 사용자 이해의 일관성인데</a:t>
            </a:r>
            <a:r>
              <a:rPr lang="en-US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화자 일관성이 깨지면 시스템 전체의 신뢰가 떨어진다</a:t>
            </a:r>
            <a:r>
              <a:rPr lang="en-US" sz="125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5" name="Text 138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6" name="Shape 91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7" name="Text 139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다음 원칙을 별도 경로에도 강하게 적용했다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8" name="Text 140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사용자 발화의 나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내는 사용자 기준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너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네는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AI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기준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답변은 존댓말만 유지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9" name="Text 141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0" name="Shape 92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1" name="Text 142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말투 문제는 사소한 스타일 이슈가 아니라 동일한 인지 주체처럼 보이느냐의 문제다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2" name="Shape 93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03" name="Text 143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말투 문제는 사소한 스타일 이슈가 아니라 동일한 인지 주체처럼 보이느냐의 문제다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4" name="PlaceHolder 1"/>
          <p:cNvSpPr>
            <a:spLocks noGrp="1"/>
          </p:cNvSpPr>
          <p:nvPr>
            <p:ph type="sldNum" idx="21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60CBFC-895E-4057-8042-4A38F49F1283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17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144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20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6" name="Text 145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CORRECTION TARGET KIND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7" name="Shape 94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8" name="Shape 95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9" name="Text 146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Correction target kind 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분류 체계 도입으로 정정의 의도를 명확화한 문제 </a:t>
            </a: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(2026-04-13)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0" name="Shape 96"/>
          <p:cNvSpPr/>
          <p:nvPr/>
        </p:nvSpPr>
        <p:spPr>
          <a:xfrm>
            <a:off x="749880" y="1783080"/>
            <a:ext cx="2925720" cy="3520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1" name="Text 147"/>
          <p:cNvSpPr/>
          <p:nvPr/>
        </p:nvSpPr>
        <p:spPr>
          <a:xfrm>
            <a:off x="969120" y="2066400"/>
            <a:ext cx="24868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같은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이라도 “무엇을 정정하는지”가 다르면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 미치는 범위와 방식도 달라져야 했다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2" name="Text 148"/>
          <p:cNvSpPr/>
          <p:nvPr/>
        </p:nvSpPr>
        <p:spPr>
          <a:xfrm>
            <a:off x="969120" y="2907720"/>
            <a:ext cx="24868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사실 오류 정정이 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profile rebuild</a:t>
            </a: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오염시킬 수 있었음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정정 의도를 구분하지 못하면 </a:t>
            </a: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retrieval / promotion / rebuild</a:t>
            </a:r>
            <a:r>
              <a:rPr lang="ko-KR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도 왜곡됨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답변 스타일 피드백을 따로 축적할 수 없었음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3" name="Shape 97"/>
          <p:cNvSpPr/>
          <p:nvPr/>
        </p:nvSpPr>
        <p:spPr>
          <a:xfrm>
            <a:off x="3950280" y="1783080"/>
            <a:ext cx="2239920" cy="3520080"/>
          </a:xfrm>
          <a:prstGeom prst="roundRect">
            <a:avLst>
              <a:gd name="adj" fmla="val 3265"/>
            </a:avLst>
          </a:prstGeom>
          <a:solidFill>
            <a:srgbClr val="EDF4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4" name="Text 149"/>
          <p:cNvSpPr/>
          <p:nvPr/>
        </p:nvSpPr>
        <p:spPr>
          <a:xfrm>
            <a:off x="4361760" y="1993320"/>
            <a:ext cx="13896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profile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5" name="Text 150"/>
          <p:cNvSpPr/>
          <p:nvPr/>
        </p:nvSpPr>
        <p:spPr>
          <a:xfrm>
            <a:off x="4151520" y="254196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2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사용자 모델 자체 정정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6" name="Text 151"/>
          <p:cNvSpPr/>
          <p:nvPr/>
        </p:nvSpPr>
        <p:spPr>
          <a:xfrm>
            <a:off x="4114800" y="3273480"/>
            <a:ext cx="19015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취향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가치관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성향을 직접 수정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ProfileRebuilder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에서 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rebuild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에 반영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7" name="Shape 98"/>
          <p:cNvSpPr/>
          <p:nvPr/>
        </p:nvSpPr>
        <p:spPr>
          <a:xfrm>
            <a:off x="6437520" y="1783080"/>
            <a:ext cx="2239920" cy="3520080"/>
          </a:xfrm>
          <a:prstGeom prst="roundRect">
            <a:avLst>
              <a:gd name="adj" fmla="val 3265"/>
            </a:avLst>
          </a:prstGeom>
          <a:solidFill>
            <a:srgbClr val="F6FCF9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8" name="Text 152"/>
          <p:cNvSpPr/>
          <p:nvPr/>
        </p:nvSpPr>
        <p:spPr>
          <a:xfrm>
            <a:off x="6849000" y="1993320"/>
            <a:ext cx="13896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topic_fact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9" name="Text 153"/>
          <p:cNvSpPr/>
          <p:nvPr/>
        </p:nvSpPr>
        <p:spPr>
          <a:xfrm>
            <a:off x="6638400" y="254196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2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설명</a:t>
            </a:r>
            <a:r>
              <a:rPr lang="en-US" sz="132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32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정보 정정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0" name="Text 154"/>
          <p:cNvSpPr/>
          <p:nvPr/>
        </p:nvSpPr>
        <p:spPr>
          <a:xfrm>
            <a:off x="6602040" y="3273480"/>
            <a:ext cx="19015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AI 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설명 오류를 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correction store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에 저장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profile rebuild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에는 넣지 않고 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conflict 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판단에 활용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1" name="Shape 99"/>
          <p:cNvSpPr/>
          <p:nvPr/>
        </p:nvSpPr>
        <p:spPr>
          <a:xfrm>
            <a:off x="8924400" y="1783080"/>
            <a:ext cx="2239920" cy="3520080"/>
          </a:xfrm>
          <a:prstGeom prst="roundRect">
            <a:avLst>
              <a:gd name="adj" fmla="val 3265"/>
            </a:avLst>
          </a:prstGeom>
          <a:solidFill>
            <a:srgbClr val="F8F5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2" name="Text 155"/>
          <p:cNvSpPr/>
          <p:nvPr/>
        </p:nvSpPr>
        <p:spPr>
          <a:xfrm>
            <a:off x="9335880" y="1993320"/>
            <a:ext cx="13896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response_behavior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3" name="Text 156"/>
          <p:cNvSpPr/>
          <p:nvPr/>
        </p:nvSpPr>
        <p:spPr>
          <a:xfrm>
            <a:off x="9125640" y="254196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2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답변 방식 정정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4" name="Text 157"/>
          <p:cNvSpPr/>
          <p:nvPr/>
        </p:nvSpPr>
        <p:spPr>
          <a:xfrm>
            <a:off x="9089280" y="3273480"/>
            <a:ext cx="19015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길이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톤</a:t>
            </a: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태도 피드백을 별도 축으로 저장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향후 응답 스타일 정책 학습 재료로 활용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5" name="Shape 100"/>
          <p:cNvSpPr/>
          <p:nvPr/>
        </p:nvSpPr>
        <p:spPr>
          <a:xfrm>
            <a:off x="749880" y="5532120"/>
            <a:ext cx="10698120" cy="502560"/>
          </a:xfrm>
          <a:prstGeom prst="roundRect">
            <a:avLst>
              <a:gd name="adj" fmla="val 14545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26" name="Text 158"/>
          <p:cNvSpPr/>
          <p:nvPr/>
        </p:nvSpPr>
        <p:spPr>
          <a:xfrm>
            <a:off x="987480" y="5678280"/>
            <a:ext cx="101952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3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정정을 “한 종류의 </a:t>
            </a:r>
            <a:r>
              <a:rPr lang="en-US" sz="123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correction”</a:t>
            </a:r>
            <a:r>
              <a:rPr lang="ko-KR" sz="123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으로 뭉개지 않고 대상별로 분리함으로써 </a:t>
            </a:r>
            <a:r>
              <a:rPr lang="en-US" sz="123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profile </a:t>
            </a:r>
            <a:r>
              <a:rPr lang="ko-KR" sz="123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안전성과 향후 확장성이 모두 좋아졌다</a:t>
            </a:r>
            <a:r>
              <a:rPr lang="en-US" sz="123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3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7" name="PlaceHolder 1"/>
          <p:cNvSpPr>
            <a:spLocks noGrp="1"/>
          </p:cNvSpPr>
          <p:nvPr>
            <p:ph type="sldNum" idx="22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EEB3C5-48E0-4BDD-9261-B6751F3CE4CE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18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Text 159"/>
          <p:cNvSpPr/>
          <p:nvPr/>
        </p:nvSpPr>
        <p:spPr>
          <a:xfrm>
            <a:off x="548640" y="438840"/>
            <a:ext cx="9326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21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9" name="Text 160"/>
          <p:cNvSpPr/>
          <p:nvPr/>
        </p:nvSpPr>
        <p:spPr>
          <a:xfrm>
            <a:off x="567000" y="896040"/>
            <a:ext cx="6400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0" name="Shape 101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1" name="Shape 102"/>
          <p:cNvSpPr/>
          <p:nvPr/>
        </p:nvSpPr>
        <p:spPr>
          <a:xfrm>
            <a:off x="749880" y="1261800"/>
            <a:ext cx="10716480" cy="420120"/>
          </a:xfrm>
          <a:prstGeom prst="roundRect">
            <a:avLst>
              <a:gd name="adj" fmla="val 17391"/>
            </a:avLst>
          </a:prstGeom>
          <a:solidFill>
            <a:srgbClr val="F1F5FB"/>
          </a:solidFill>
          <a:ln w="12700">
            <a:solidFill>
              <a:srgbClr val="E1E8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2" name="Text 161"/>
          <p:cNvSpPr/>
          <p:nvPr/>
        </p:nvSpPr>
        <p:spPr>
          <a:xfrm>
            <a:off x="932760" y="1389960"/>
            <a:ext cx="1024092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문제 의존성을 제거하지 않고 </a:t>
            </a: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Python </a:t>
            </a:r>
            <a:r>
              <a:rPr lang="ko-KR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상한으로만 막으려던 문제 </a:t>
            </a:r>
            <a:r>
              <a:rPr lang="en-US" sz="1250" b="1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(2026-04-13)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3" name="Text 162"/>
          <p:cNvSpPr/>
          <p:nvPr/>
        </p:nvSpPr>
        <p:spPr>
          <a:xfrm>
            <a:off x="932760" y="1828800"/>
            <a:ext cx="6580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E85C5C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4" name="Shape 103"/>
          <p:cNvSpPr/>
          <p:nvPr/>
        </p:nvSpPr>
        <p:spPr>
          <a:xfrm>
            <a:off x="749880" y="2011680"/>
            <a:ext cx="2880000" cy="31269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5" name="Text 163"/>
          <p:cNvSpPr/>
          <p:nvPr/>
        </p:nvSpPr>
        <p:spPr>
          <a:xfrm>
            <a:off x="960120" y="22402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langchain-text-splitters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Python 3.14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환경에서 경고와 호환성 불안을 만들고 있었고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이를 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interpreter </a:t>
            </a:r>
            <a:r>
              <a:rPr lang="ko-KR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상한으로만 막는 방향으로 굳어질 위험이 있었다</a:t>
            </a:r>
            <a:r>
              <a:rPr lang="en-US" sz="135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6" name="Text 164"/>
          <p:cNvSpPr/>
          <p:nvPr/>
        </p:nvSpPr>
        <p:spPr>
          <a:xfrm>
            <a:off x="4087440" y="1828800"/>
            <a:ext cx="1078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왜 문제였나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7" name="Shape 104"/>
          <p:cNvSpPr/>
          <p:nvPr/>
        </p:nvSpPr>
        <p:spPr>
          <a:xfrm>
            <a:off x="3877200" y="2011680"/>
            <a:ext cx="7570800" cy="132552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8" name="Text 165"/>
          <p:cNvSpPr/>
          <p:nvPr/>
        </p:nvSpPr>
        <p:spPr>
          <a:xfrm>
            <a:off x="4096440" y="2304360"/>
            <a:ext cx="71319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문제의 원인이 프로젝트 구조가 아니라 특정 의존성인데도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프로젝트 전체가 버전 제약을 떠안게 됨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새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Python 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버전이 나올 때마다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일단 막고 보자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는 운영으로 굳어질 위험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MK4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가 지향하는 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local-first / 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구조 우선 철학보다</a:t>
            </a:r>
            <a:r>
              <a:rPr lang="en-US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1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외부 의존성의 임시 회피가 더 강해짐</a:t>
            </a:r>
            <a:endParaRPr lang="en-US" sz="121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9" name="Text 166"/>
          <p:cNvSpPr/>
          <p:nvPr/>
        </p:nvSpPr>
        <p:spPr>
          <a:xfrm>
            <a:off x="4087440" y="3602880"/>
            <a:ext cx="8956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22A06B"/>
                </a:solidFill>
                <a:effectLst/>
                <a:uFillTx/>
                <a:latin typeface="Noto Sans CJK KR"/>
                <a:ea typeface="Noto Sans CJK KR"/>
              </a:rPr>
              <a:t>방향 수정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0" name="Shape 105"/>
          <p:cNvSpPr/>
          <p:nvPr/>
        </p:nvSpPr>
        <p:spPr>
          <a:xfrm>
            <a:off x="3877200" y="3785760"/>
            <a:ext cx="3620520" cy="1352880"/>
          </a:xfrm>
          <a:prstGeom prst="roundRect">
            <a:avLst>
              <a:gd name="adj" fmla="val 5405"/>
            </a:avLst>
          </a:prstGeom>
          <a:solidFill>
            <a:srgbClr val="F6FCF9"/>
          </a:solidFill>
          <a:ln w="12700">
            <a:solidFill>
              <a:srgbClr val="DCEFE5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1" name="Text 167"/>
          <p:cNvSpPr/>
          <p:nvPr/>
        </p:nvSpPr>
        <p:spPr>
          <a:xfrm>
            <a:off x="4096440" y="3986640"/>
            <a:ext cx="31633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문제 의존성을 직접 제거하는 방향으로 수정했다</a:t>
            </a:r>
            <a:r>
              <a:rPr lang="en-US" sz="127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2" name="Text 168"/>
          <p:cNvSpPr/>
          <p:nvPr/>
        </p:nvSpPr>
        <p:spPr>
          <a:xfrm>
            <a:off x="4096440" y="4416480"/>
            <a:ext cx="314532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project_analysis/injest/chunker.py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의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langchain-text-splitters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의존 제거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확장자별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separator + character chunking 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정책은 유지하되 내부 구현으로 전환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• tests/test_chunker.py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로 </a:t>
            </a:r>
            <a:r>
              <a:rPr lang="en-US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separator / fallback / overlap / line number</a:t>
            </a:r>
            <a:r>
              <a:rPr lang="ko-KR" sz="1070" b="0" u="none" strike="noStrike">
                <a:solidFill>
                  <a:srgbClr val="5B6B7F"/>
                </a:solidFill>
                <a:effectLst/>
                <a:uFillTx/>
                <a:latin typeface="Noto Sans CJK KR"/>
                <a:ea typeface="Noto Sans CJK KR"/>
              </a:rPr>
              <a:t>를 검증</a:t>
            </a:r>
            <a:endParaRPr lang="en-US" sz="107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3" name="Text 169"/>
          <p:cNvSpPr/>
          <p:nvPr/>
        </p:nvSpPr>
        <p:spPr>
          <a:xfrm>
            <a:off x="8019360" y="3602880"/>
            <a:ext cx="93240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7B61FF"/>
                </a:solidFill>
                <a:effectLst/>
                <a:uFillTx/>
                <a:latin typeface="Noto Sans CJK KR"/>
                <a:ea typeface="Noto Sans CJK KR"/>
              </a:rPr>
              <a:t>핵심 교훈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4" name="Shape 106"/>
          <p:cNvSpPr/>
          <p:nvPr/>
        </p:nvSpPr>
        <p:spPr>
          <a:xfrm>
            <a:off x="7790760" y="3785760"/>
            <a:ext cx="3657240" cy="1352880"/>
          </a:xfrm>
          <a:prstGeom prst="roundRect">
            <a:avLst>
              <a:gd name="adj" fmla="val 5405"/>
            </a:avLst>
          </a:prstGeom>
          <a:solidFill>
            <a:srgbClr val="F8F5FF"/>
          </a:solidFill>
          <a:ln w="12700">
            <a:solidFill>
              <a:srgbClr val="E6DDFB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5" name="Text 170"/>
          <p:cNvSpPr/>
          <p:nvPr/>
        </p:nvSpPr>
        <p:spPr>
          <a:xfrm>
            <a:off x="8028360" y="3968640"/>
            <a:ext cx="3181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장기 프로젝트에서는 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문제 라이브러리 때문에 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interpreter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를 묶는 것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보다 가능한 문제 라이브러리를 걷어내고 프로젝트의 구조 자율성을 높이는 것이 더 건강하다</a:t>
            </a:r>
            <a:r>
              <a:rPr lang="en-US" sz="126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6" name="Shape 107"/>
          <p:cNvSpPr/>
          <p:nvPr/>
        </p:nvSpPr>
        <p:spPr>
          <a:xfrm>
            <a:off x="749880" y="5440680"/>
            <a:ext cx="10698120" cy="529920"/>
          </a:xfrm>
          <a:prstGeom prst="roundRect">
            <a:avLst>
              <a:gd name="adj" fmla="val 13793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7" name="Text 171"/>
          <p:cNvSpPr/>
          <p:nvPr/>
        </p:nvSpPr>
        <p:spPr>
          <a:xfrm>
            <a:off x="987480" y="5596200"/>
            <a:ext cx="10222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장기 프로젝트에서는 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문제 라이브러리 때문에 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interpreter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를 묶는 것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"</a:t>
            </a:r>
            <a:r>
              <a:rPr lang="ko-KR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보다 가능한 문제 라이브러리를 걷어내고 프로젝트의 구조 자율성을 높이는 것이 더 건강하다</a:t>
            </a:r>
            <a:r>
              <a:rPr lang="en-US" sz="124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 type="sldNum" idx="23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E74E9C-B106-48A5-B0E4-A54D2FE5DA42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19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2 · 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 채널별로 기억 의미론이 갈라지던 문제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0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2" name="Shape 3"/>
          <p:cNvSpPr/>
          <p:nvPr/>
        </p:nvSpPr>
        <p:spPr>
          <a:xfrm>
            <a:off x="868680" y="1389960"/>
            <a:ext cx="585000" cy="310680"/>
          </a:xfrm>
          <a:prstGeom prst="roundRect">
            <a:avLst>
              <a:gd name="adj" fmla="val 35294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3" name="Text 4"/>
          <p:cNvSpPr/>
          <p:nvPr/>
        </p:nvSpPr>
        <p:spPr>
          <a:xfrm>
            <a:off x="868680" y="1426320"/>
            <a:ext cx="585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4" name="Shape 5"/>
          <p:cNvSpPr/>
          <p:nvPr/>
        </p:nvSpPr>
        <p:spPr>
          <a:xfrm>
            <a:off x="777240" y="1810440"/>
            <a:ext cx="1097244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5" name="Text 6"/>
          <p:cNvSpPr/>
          <p:nvPr/>
        </p:nvSpPr>
        <p:spPr>
          <a:xfrm>
            <a:off x="1005840" y="2020680"/>
            <a:ext cx="10469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일반 채팅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project artifact</a:t>
            </a: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서로 다른 시스템처럼 취급되면서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같은 의미도 채널에 따라 버려지거나 과하게 확정되는 일이 생겼다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6" name="Shape 7"/>
          <p:cNvSpPr/>
          <p:nvPr/>
        </p:nvSpPr>
        <p:spPr>
          <a:xfrm>
            <a:off x="868680" y="2743200"/>
            <a:ext cx="1005480" cy="310680"/>
          </a:xfrm>
          <a:prstGeom prst="roundRect">
            <a:avLst>
              <a:gd name="adj" fmla="val 35294"/>
            </a:avLst>
          </a:prstGeo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57" name="Text 8"/>
          <p:cNvSpPr/>
          <p:nvPr/>
        </p:nvSpPr>
        <p:spPr>
          <a:xfrm>
            <a:off x="868680" y="2779920"/>
            <a:ext cx="1005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왜 문제였는가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8" name="Shape 9"/>
          <p:cNvSpPr/>
          <p:nvPr/>
        </p:nvSpPr>
        <p:spPr>
          <a:xfrm>
            <a:off x="777240" y="3127320"/>
            <a:ext cx="5257440" cy="1737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59" name="Text 10"/>
          <p:cNvSpPr/>
          <p:nvPr/>
        </p:nvSpPr>
        <p:spPr>
          <a:xfrm>
            <a:off x="1024200" y="3401640"/>
            <a:ext cx="475452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같은 사용자 정보라도 채널별로 다른 규칙을 적용하면 시스템 전체 일관성이 무너지고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장기 기억 계층이 공통 기반을 잃게 된다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0" name="Shape 11"/>
          <p:cNvSpPr/>
          <p:nvPr/>
        </p:nvSpPr>
        <p:spPr>
          <a:xfrm>
            <a:off x="6355080" y="2743200"/>
            <a:ext cx="859320" cy="310680"/>
          </a:xfrm>
          <a:prstGeom prst="roundRect">
            <a:avLst>
              <a:gd name="adj" fmla="val 35294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1" name="Text 12"/>
          <p:cNvSpPr/>
          <p:nvPr/>
        </p:nvSpPr>
        <p:spPr>
          <a:xfrm>
            <a:off x="6355080" y="2779920"/>
            <a:ext cx="8593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해결 방향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2" name="Shape 13"/>
          <p:cNvSpPr/>
          <p:nvPr/>
        </p:nvSpPr>
        <p:spPr>
          <a:xfrm>
            <a:off x="6263640" y="3127320"/>
            <a:ext cx="5440320" cy="1737000"/>
          </a:xfrm>
          <a:prstGeom prst="roundRect">
            <a:avLst>
              <a:gd name="adj" fmla="val 4211"/>
            </a:avLst>
          </a:prstGeom>
          <a:solidFill>
            <a:srgbClr val="F3F8FF"/>
          </a:solidFill>
          <a:ln w="12700">
            <a:solidFill>
              <a:srgbClr val="D4E4F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3" name="Text 14"/>
          <p:cNvSpPr/>
          <p:nvPr/>
        </p:nvSpPr>
        <p:spPr>
          <a:xfrm>
            <a:off x="6510600" y="3401640"/>
            <a:ext cx="491904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입력 채널은 달라도 기억으로 들어갈 때는 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general / candidate / confirmed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공통 의미론으로 수렴시키는 방향으로 재정렬했다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4" name="Shape 15"/>
          <p:cNvSpPr/>
          <p:nvPr/>
        </p:nvSpPr>
        <p:spPr>
          <a:xfrm>
            <a:off x="1097280" y="5212080"/>
            <a:ext cx="10058040" cy="585000"/>
          </a:xfrm>
          <a:prstGeom prst="roundRect">
            <a:avLst>
              <a:gd name="adj" fmla="val 12500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65" name="Text 16"/>
          <p:cNvSpPr/>
          <p:nvPr/>
        </p:nvSpPr>
        <p:spPr>
          <a:xfrm>
            <a:off x="1298520" y="5413320"/>
            <a:ext cx="9646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핵심 교훈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· </a:t>
            </a:r>
            <a:r>
              <a:rPr lang="ko-KR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입력 채널 분리는 기술적 편의일 뿐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의미론 분리의 근거가 될 수 없다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6" name="PlaceHolder 1"/>
          <p:cNvSpPr>
            <a:spLocks noGrp="1"/>
          </p:cNvSpPr>
          <p:nvPr>
            <p:ph type="sldNum" idx="24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0B5FCB-721F-4F87-9393-A5E3DC04EECA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20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트러블슈팅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3 · preview-first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실제 업데이트를 가로막던 문제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8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TROUBLESHOOTING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69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0" name="Shape 3"/>
          <p:cNvSpPr/>
          <p:nvPr/>
        </p:nvSpPr>
        <p:spPr>
          <a:xfrm>
            <a:off x="868680" y="1389960"/>
            <a:ext cx="585000" cy="310680"/>
          </a:xfrm>
          <a:prstGeom prst="roundRect">
            <a:avLst>
              <a:gd name="adj" fmla="val 35294"/>
            </a:avLst>
          </a:prstGeom>
          <a:solidFill>
            <a:srgbClr val="22A06B"/>
          </a:solidFill>
          <a:ln w="12700">
            <a:solidFill>
              <a:srgbClr val="22A0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71" name="Text 4"/>
          <p:cNvSpPr/>
          <p:nvPr/>
        </p:nvSpPr>
        <p:spPr>
          <a:xfrm>
            <a:off x="868680" y="1426320"/>
            <a:ext cx="585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문제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2" name="Shape 5"/>
          <p:cNvSpPr/>
          <p:nvPr/>
        </p:nvSpPr>
        <p:spPr>
          <a:xfrm>
            <a:off x="777240" y="1810440"/>
            <a:ext cx="1097244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3" name="Text 6"/>
          <p:cNvSpPr/>
          <p:nvPr/>
        </p:nvSpPr>
        <p:spPr>
          <a:xfrm>
            <a:off x="1005840" y="2020680"/>
            <a:ext cx="10469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텍스트를 분석해 설명은 해주지만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실제 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에는 거의 반영되지 않는 구조가 한동안 남아 있었다</a:t>
            </a:r>
            <a:r>
              <a:rPr lang="en-US" sz="17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4" name="Shape 7"/>
          <p:cNvSpPr/>
          <p:nvPr/>
        </p:nvSpPr>
        <p:spPr>
          <a:xfrm>
            <a:off x="868680" y="2743200"/>
            <a:ext cx="1005480" cy="310680"/>
          </a:xfrm>
          <a:prstGeom prst="roundRect">
            <a:avLst>
              <a:gd name="adj" fmla="val 35294"/>
            </a:avLst>
          </a:prstGeom>
          <a:solidFill>
            <a:srgbClr val="6B7280"/>
          </a:solidFill>
          <a:ln w="12700">
            <a:solidFill>
              <a:srgbClr val="6B728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75" name="Text 8"/>
          <p:cNvSpPr/>
          <p:nvPr/>
        </p:nvSpPr>
        <p:spPr>
          <a:xfrm>
            <a:off x="868680" y="2779920"/>
            <a:ext cx="1005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왜 문제였는가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6" name="Shape 9"/>
          <p:cNvSpPr/>
          <p:nvPr/>
        </p:nvSpPr>
        <p:spPr>
          <a:xfrm>
            <a:off x="777240" y="3127320"/>
            <a:ext cx="5257440" cy="1737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7" name="Text 10"/>
          <p:cNvSpPr/>
          <p:nvPr/>
        </p:nvSpPr>
        <p:spPr>
          <a:xfrm>
            <a:off x="1024200" y="3401640"/>
            <a:ext cx="475452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겉으로는 이해한 것처럼 보이지만 다음 대화에 남는 것이 없어서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“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일회성 해석문 생성기”에 가까워지는 문제가 있었다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78" name="Shape 11"/>
          <p:cNvSpPr/>
          <p:nvPr/>
        </p:nvSpPr>
        <p:spPr>
          <a:xfrm>
            <a:off x="6355080" y="2743200"/>
            <a:ext cx="859320" cy="310680"/>
          </a:xfrm>
          <a:prstGeom prst="roundRect">
            <a:avLst>
              <a:gd name="adj" fmla="val 35294"/>
            </a:avLst>
          </a:prstGeom>
          <a:solidFill>
            <a:srgbClr val="2C6FDB"/>
          </a:solidFill>
          <a:ln w="12700">
            <a:solidFill>
              <a:srgbClr val="2C6FD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79" name="Text 12"/>
          <p:cNvSpPr/>
          <p:nvPr/>
        </p:nvSpPr>
        <p:spPr>
          <a:xfrm>
            <a:off x="6355080" y="2779920"/>
            <a:ext cx="8593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해결 방향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0" name="Shape 13"/>
          <p:cNvSpPr/>
          <p:nvPr/>
        </p:nvSpPr>
        <p:spPr>
          <a:xfrm>
            <a:off x="6263640" y="3127320"/>
            <a:ext cx="5440320" cy="1737000"/>
          </a:xfrm>
          <a:prstGeom prst="roundRect">
            <a:avLst>
              <a:gd name="adj" fmla="val 4211"/>
            </a:avLst>
          </a:prstGeom>
          <a:solidFill>
            <a:srgbClr val="F3F8FF"/>
          </a:solidFill>
          <a:ln w="12700">
            <a:solidFill>
              <a:srgbClr val="D4E4F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1" name="Text 14"/>
          <p:cNvSpPr/>
          <p:nvPr/>
        </p:nvSpPr>
        <p:spPr>
          <a:xfrm>
            <a:off x="6510600" y="3401640"/>
            <a:ext cx="4919040" cy="11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첨부 기반 요청을 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source 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저장 → 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passage 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선택 → 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 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추출 → 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store → sync → answer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update-first </a:t>
            </a:r>
            <a:r>
              <a:rPr lang="ko-KR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구조로 바꿨다</a:t>
            </a:r>
            <a:r>
              <a:rPr lang="en-US" sz="142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4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2" name="Shape 15"/>
          <p:cNvSpPr/>
          <p:nvPr/>
        </p:nvSpPr>
        <p:spPr>
          <a:xfrm>
            <a:off x="1097280" y="5212080"/>
            <a:ext cx="10058040" cy="585000"/>
          </a:xfrm>
          <a:prstGeom prst="roundRect">
            <a:avLst>
              <a:gd name="adj" fmla="val 12500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83" name="Text 16"/>
          <p:cNvSpPr/>
          <p:nvPr/>
        </p:nvSpPr>
        <p:spPr>
          <a:xfrm>
            <a:off x="1298520" y="5413320"/>
            <a:ext cx="9646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핵심 교훈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· MK4</a:t>
            </a:r>
            <a:r>
              <a:rPr lang="ko-KR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에서 첨부 기반 프로필 요청은 설명 서비스가 아니라 실제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memory update </a:t>
            </a:r>
            <a:r>
              <a:rPr lang="ko-KR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이벤트여야 한다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4" name="PlaceHolder 1"/>
          <p:cNvSpPr>
            <a:spLocks noGrp="1"/>
          </p:cNvSpPr>
          <p:nvPr>
            <p:ph type="sldNum" idx="25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D965DB-86AC-40A5-96EF-3664A06B5B53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21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향후 확장 계획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6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WHAT IS NOT FINISHED YET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7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8" name="Shape 3"/>
          <p:cNvSpPr/>
          <p:nvPr/>
        </p:nvSpPr>
        <p:spPr>
          <a:xfrm>
            <a:off x="749880" y="1554480"/>
            <a:ext cx="5138640" cy="1782720"/>
          </a:xfrm>
          <a:prstGeom prst="roundRect">
            <a:avLst>
              <a:gd name="adj" fmla="val 4103"/>
            </a:avLst>
          </a:prstGeom>
          <a:solidFill>
            <a:srgbClr val="EDF4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969120" y="173736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일반 채팅 품질 고도화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0" name="Text 5"/>
          <p:cNvSpPr/>
          <p:nvPr/>
        </p:nvSpPr>
        <p:spPr>
          <a:xfrm>
            <a:off x="978480" y="2084760"/>
            <a:ext cx="4525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현재 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75~80%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수준을 첨부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/artifact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수준으로 끌어올리기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general → candidate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승격과 재사용 안정화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짧음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반복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... ,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모르는 척 문제 재현 테스트 및 개선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1" name="Shape 6"/>
          <p:cNvSpPr/>
          <p:nvPr/>
        </p:nvSpPr>
        <p:spPr>
          <a:xfrm>
            <a:off x="6236280" y="1554480"/>
            <a:ext cx="5138640" cy="1782720"/>
          </a:xfrm>
          <a:prstGeom prst="roundRect">
            <a:avLst>
              <a:gd name="adj" fmla="val 4103"/>
            </a:avLst>
          </a:prstGeom>
          <a:solidFill>
            <a:srgbClr val="EAF9F5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6455520" y="173736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Source lookup layer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3" name="Text 8"/>
          <p:cNvSpPr/>
          <p:nvPr/>
        </p:nvSpPr>
        <p:spPr>
          <a:xfrm>
            <a:off x="6464880" y="2084760"/>
            <a:ext cx="4525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recent source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자동 관리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active topic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자동 설정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정리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reply_guard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책임 축소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4" name="Shape 9"/>
          <p:cNvSpPr/>
          <p:nvPr/>
        </p:nvSpPr>
        <p:spPr>
          <a:xfrm>
            <a:off x="749880" y="3602880"/>
            <a:ext cx="5138640" cy="1782720"/>
          </a:xfrm>
          <a:prstGeom prst="roundRect">
            <a:avLst>
              <a:gd name="adj" fmla="val 4103"/>
            </a:avLst>
          </a:prstGeom>
          <a:solidFill>
            <a:srgbClr val="FFF9F0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5" name="Text 10"/>
          <p:cNvSpPr/>
          <p:nvPr/>
        </p:nvSpPr>
        <p:spPr>
          <a:xfrm>
            <a:off x="969120" y="378576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 </a:t>
            </a:r>
            <a:r>
              <a:rPr lang="ko-KR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확장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6" name="Text 11"/>
          <p:cNvSpPr/>
          <p:nvPr/>
        </p:nvSpPr>
        <p:spPr>
          <a:xfrm>
            <a:off x="978480" y="4133160"/>
            <a:ext cx="4525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profile → topic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수준 확장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merge / split / rebuild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기준 설계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correction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기반 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demote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로직 강화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7" name="Shape 12"/>
          <p:cNvSpPr/>
          <p:nvPr/>
        </p:nvSpPr>
        <p:spPr>
          <a:xfrm>
            <a:off x="6236280" y="3602880"/>
            <a:ext cx="5138640" cy="1782720"/>
          </a:xfrm>
          <a:prstGeom prst="roundRect">
            <a:avLst>
              <a:gd name="adj" fmla="val 4103"/>
            </a:avLst>
          </a:prstGeom>
          <a:solidFill>
            <a:srgbClr val="F5F0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8" name="Text 13"/>
          <p:cNvSpPr/>
          <p:nvPr/>
        </p:nvSpPr>
        <p:spPr>
          <a:xfrm>
            <a:off x="6455520" y="378576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측정 루프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99" name="Text 14"/>
          <p:cNvSpPr/>
          <p:nvPr/>
        </p:nvSpPr>
        <p:spPr>
          <a:xfrm>
            <a:off x="6464880" y="4133160"/>
            <a:ext cx="4525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응답시간 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승격 빈도 </a:t>
            </a: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/ attach </a:t>
            </a:r>
            <a:r>
              <a:rPr lang="ko-KR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정확도 추적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품질 메트릭 기반 개선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운영값 튜닝의 근거 확보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0" name="PlaceHolder 1"/>
          <p:cNvSpPr>
            <a:spLocks noGrp="1"/>
          </p:cNvSpPr>
          <p:nvPr>
            <p:ph type="sldNum" idx="26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E36BCC-9AC0-43A9-BE01-5808B9CC8B44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22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향후 발전 방향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· MK5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2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NEXT STAGE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3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4" name="Shape 3"/>
          <p:cNvSpPr/>
          <p:nvPr/>
        </p:nvSpPr>
        <p:spPr>
          <a:xfrm>
            <a:off x="749880" y="1554480"/>
            <a:ext cx="10972440" cy="4480200"/>
          </a:xfrm>
          <a:prstGeom prst="roundRect">
            <a:avLst>
              <a:gd name="adj" fmla="val 1633"/>
            </a:avLst>
          </a:prstGeom>
          <a:solidFill>
            <a:srgbClr val="101B2E"/>
          </a:solidFill>
          <a:ln w="12700">
            <a:solidFill>
              <a:srgbClr val="22334E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5" name="Text 4"/>
          <p:cNvSpPr/>
          <p:nvPr/>
        </p:nvSpPr>
        <p:spPr>
          <a:xfrm>
            <a:off x="1097280" y="1828800"/>
            <a:ext cx="9966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가 “</a:t>
            </a: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memory substrate”</a:t>
            </a:r>
            <a:r>
              <a:rPr lang="ko-KR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를 구현하는 단계라면</a:t>
            </a: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MK5</a:t>
            </a:r>
            <a:r>
              <a:rPr lang="ko-KR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는 그 위에 더 넓은 </a:t>
            </a: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cognition loop</a:t>
            </a:r>
            <a:r>
              <a:rPr lang="ko-KR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를 얹는 단계로 생각하고 있다</a:t>
            </a:r>
            <a:r>
              <a:rPr lang="en-US" sz="210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6" name="Shape 5"/>
          <p:cNvSpPr/>
          <p:nvPr/>
        </p:nvSpPr>
        <p:spPr>
          <a:xfrm>
            <a:off x="1005840" y="3090600"/>
            <a:ext cx="2148480" cy="1425960"/>
          </a:xfrm>
          <a:prstGeom prst="roundRect">
            <a:avLst>
              <a:gd name="adj" fmla="val 5128"/>
            </a:avLst>
          </a:prstGeom>
          <a:solidFill>
            <a:srgbClr val="173050"/>
          </a:solidFill>
          <a:ln w="12700">
            <a:solidFill>
              <a:srgbClr val="2947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07" name="Text 6"/>
          <p:cNvSpPr/>
          <p:nvPr/>
        </p:nvSpPr>
        <p:spPr>
          <a:xfrm>
            <a:off x="1115640" y="3364920"/>
            <a:ext cx="1919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1" u="none" strike="noStrike">
                <a:solidFill>
                  <a:srgbClr val="EAF2FF"/>
                </a:solidFill>
                <a:effectLst/>
                <a:uFillTx/>
                <a:latin typeface="Noto Sans CJK KR"/>
                <a:ea typeface="Noto Sans CJK KR"/>
              </a:rPr>
              <a:t>Memory substrate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8" name="Text 7"/>
          <p:cNvSpPr/>
          <p:nvPr/>
        </p:nvSpPr>
        <p:spPr>
          <a:xfrm>
            <a:off x="1115640" y="3749040"/>
            <a:ext cx="1919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revisable memory / correction / topic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9" name="Shape 8"/>
          <p:cNvSpPr/>
          <p:nvPr/>
        </p:nvSpPr>
        <p:spPr>
          <a:xfrm>
            <a:off x="3255120" y="3593520"/>
            <a:ext cx="200880" cy="237240"/>
          </a:xfrm>
          <a:prstGeom prst="chevron">
            <a:avLst>
              <a:gd name="adj" fmla="val 50000"/>
            </a:avLst>
          </a:prstGeom>
          <a:solidFill>
            <a:srgbClr val="3F5C86"/>
          </a:solidFill>
          <a:ln w="12700">
            <a:solidFill>
              <a:srgbClr val="3F5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0" name="Shape 9"/>
          <p:cNvSpPr/>
          <p:nvPr/>
        </p:nvSpPr>
        <p:spPr>
          <a:xfrm>
            <a:off x="3703320" y="3090600"/>
            <a:ext cx="2148480" cy="1425960"/>
          </a:xfrm>
          <a:prstGeom prst="roundRect">
            <a:avLst>
              <a:gd name="adj" fmla="val 5128"/>
            </a:avLst>
          </a:prstGeom>
          <a:solidFill>
            <a:srgbClr val="13243C"/>
          </a:solidFill>
          <a:ln w="12700">
            <a:solidFill>
              <a:srgbClr val="2947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1" name="Text 10"/>
          <p:cNvSpPr/>
          <p:nvPr/>
        </p:nvSpPr>
        <p:spPr>
          <a:xfrm>
            <a:off x="3813120" y="3364920"/>
            <a:ext cx="1919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1" u="none" strike="noStrike">
                <a:solidFill>
                  <a:srgbClr val="EAF2FF"/>
                </a:solidFill>
                <a:effectLst/>
                <a:uFillTx/>
                <a:latin typeface="Noto Sans CJK KR"/>
                <a:ea typeface="Noto Sans CJK KR"/>
              </a:rPr>
              <a:t>Source lookup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2" name="Text 11"/>
          <p:cNvSpPr/>
          <p:nvPr/>
        </p:nvSpPr>
        <p:spPr>
          <a:xfrm>
            <a:off x="3813120" y="3749040"/>
            <a:ext cx="1919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recent source · DB · raw transcript </a:t>
            </a:r>
            <a:r>
              <a:rPr lang="ko-KR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재탐색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3" name="Shape 12"/>
          <p:cNvSpPr/>
          <p:nvPr/>
        </p:nvSpPr>
        <p:spPr>
          <a:xfrm>
            <a:off x="5952600" y="3593520"/>
            <a:ext cx="200880" cy="237240"/>
          </a:xfrm>
          <a:prstGeom prst="chevron">
            <a:avLst>
              <a:gd name="adj" fmla="val 50000"/>
            </a:avLst>
          </a:prstGeom>
          <a:solidFill>
            <a:srgbClr val="3F5C86"/>
          </a:solidFill>
          <a:ln w="12700">
            <a:solidFill>
              <a:srgbClr val="3F5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4" name="Shape 13"/>
          <p:cNvSpPr/>
          <p:nvPr/>
        </p:nvSpPr>
        <p:spPr>
          <a:xfrm>
            <a:off x="6400800" y="3090600"/>
            <a:ext cx="2148480" cy="1425960"/>
          </a:xfrm>
          <a:prstGeom prst="roundRect">
            <a:avLst>
              <a:gd name="adj" fmla="val 5128"/>
            </a:avLst>
          </a:prstGeom>
          <a:solidFill>
            <a:srgbClr val="13243C"/>
          </a:solidFill>
          <a:ln w="12700">
            <a:solidFill>
              <a:srgbClr val="2947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5" name="Text 14"/>
          <p:cNvSpPr/>
          <p:nvPr/>
        </p:nvSpPr>
        <p:spPr>
          <a:xfrm>
            <a:off x="6510600" y="3364920"/>
            <a:ext cx="1919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1" u="none" strike="noStrike">
                <a:solidFill>
                  <a:srgbClr val="EAF2FF"/>
                </a:solidFill>
                <a:effectLst/>
                <a:uFillTx/>
                <a:latin typeface="Noto Sans CJK KR"/>
                <a:ea typeface="Noto Sans CJK KR"/>
              </a:rPr>
              <a:t>Reasoning / planning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6" name="Text 15"/>
          <p:cNvSpPr/>
          <p:nvPr/>
        </p:nvSpPr>
        <p:spPr>
          <a:xfrm>
            <a:off x="6510600" y="3749040"/>
            <a:ext cx="1919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기억 위에서 더 긴 사고와 선택 구조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7" name="Shape 16"/>
          <p:cNvSpPr/>
          <p:nvPr/>
        </p:nvSpPr>
        <p:spPr>
          <a:xfrm>
            <a:off x="8650080" y="3593520"/>
            <a:ext cx="200880" cy="237240"/>
          </a:xfrm>
          <a:prstGeom prst="chevron">
            <a:avLst>
              <a:gd name="adj" fmla="val 50000"/>
            </a:avLst>
          </a:prstGeom>
          <a:solidFill>
            <a:srgbClr val="3F5C86"/>
          </a:solidFill>
          <a:ln w="12700">
            <a:solidFill>
              <a:srgbClr val="3F5C8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8" name="Shape 17"/>
          <p:cNvSpPr/>
          <p:nvPr/>
        </p:nvSpPr>
        <p:spPr>
          <a:xfrm>
            <a:off x="9098280" y="3090600"/>
            <a:ext cx="2148480" cy="1425960"/>
          </a:xfrm>
          <a:prstGeom prst="roundRect">
            <a:avLst>
              <a:gd name="adj" fmla="val 5128"/>
            </a:avLst>
          </a:prstGeom>
          <a:solidFill>
            <a:srgbClr val="13243C"/>
          </a:solidFill>
          <a:ln w="12700">
            <a:solidFill>
              <a:srgbClr val="2947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19" name="Text 18"/>
          <p:cNvSpPr/>
          <p:nvPr/>
        </p:nvSpPr>
        <p:spPr>
          <a:xfrm>
            <a:off x="9208080" y="3364920"/>
            <a:ext cx="1919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20" b="1" u="none" strike="noStrike">
                <a:solidFill>
                  <a:srgbClr val="EAF2FF"/>
                </a:solidFill>
                <a:effectLst/>
                <a:uFillTx/>
                <a:latin typeface="Noto Sans CJK KR"/>
                <a:ea typeface="Noto Sans CJK KR"/>
              </a:rPr>
              <a:t>User ownership &amp; governance</a:t>
            </a:r>
            <a:endParaRPr lang="en-US" sz="15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0" name="Text 19"/>
          <p:cNvSpPr/>
          <p:nvPr/>
        </p:nvSpPr>
        <p:spPr>
          <a:xfrm>
            <a:off x="9208080" y="3749040"/>
            <a:ext cx="1919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사용자 결정권 </a:t>
            </a:r>
            <a:r>
              <a:rPr lang="en-US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검증 가능성 </a:t>
            </a:r>
            <a:r>
              <a:rPr lang="en-US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/ </a:t>
            </a:r>
            <a:r>
              <a:rPr lang="ko-KR" sz="1080" b="0" u="none" strike="noStrike">
                <a:solidFill>
                  <a:srgbClr val="AAC3E3"/>
                </a:solidFill>
                <a:effectLst/>
                <a:uFillTx/>
                <a:latin typeface="Noto Sans CJK KR"/>
                <a:ea typeface="Noto Sans CJK KR"/>
              </a:rPr>
              <a:t>로컬 통제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1" name="Shape 20"/>
          <p:cNvSpPr/>
          <p:nvPr/>
        </p:nvSpPr>
        <p:spPr>
          <a:xfrm>
            <a:off x="2011680" y="5047560"/>
            <a:ext cx="8183520" cy="548280"/>
          </a:xfrm>
          <a:prstGeom prst="roundRect">
            <a:avLst>
              <a:gd name="adj" fmla="val 13333"/>
            </a:avLst>
          </a:prstGeom>
          <a:solidFill>
            <a:srgbClr val="1D3556"/>
          </a:solidFill>
          <a:ln w="12700">
            <a:solidFill>
              <a:srgbClr val="2F4C7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22" name="Text 21"/>
          <p:cNvSpPr/>
          <p:nvPr/>
        </p:nvSpPr>
        <p:spPr>
          <a:xfrm>
            <a:off x="2267640" y="5230440"/>
            <a:ext cx="7634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MK5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는 “더 큰 모델”이 아니라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, 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기억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검색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사고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·</a:t>
            </a:r>
            <a:r>
              <a:rPr lang="ko-KR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사용자 통제를 더 강하게 연결하는 방향을 상정한다</a:t>
            </a:r>
            <a:r>
              <a:rPr lang="en-US" sz="132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3" name="PlaceHolder 1"/>
          <p:cNvSpPr>
            <a:spLocks noGrp="1"/>
          </p:cNvSpPr>
          <p:nvPr>
            <p:ph type="sldNum" idx="27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AC2459-2635-416F-81C1-104D319F0591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23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ext 0"/>
          <p:cNvSpPr/>
          <p:nvPr/>
        </p:nvSpPr>
        <p:spPr>
          <a:xfrm>
            <a:off x="548640" y="438840"/>
            <a:ext cx="8777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정리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5" name="Text 1"/>
          <p:cNvSpPr/>
          <p:nvPr/>
        </p:nvSpPr>
        <p:spPr>
          <a:xfrm>
            <a:off x="567000" y="896040"/>
            <a:ext cx="5028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C6FDB"/>
                </a:solidFill>
                <a:effectLst/>
                <a:uFillTx/>
                <a:latin typeface="Noto Sans CJK KR"/>
                <a:ea typeface="Noto Sans CJK KR"/>
              </a:rPr>
              <a:t>CLOSING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6" name="Shape 2"/>
          <p:cNvSpPr/>
          <p:nvPr/>
        </p:nvSpPr>
        <p:spPr>
          <a:xfrm>
            <a:off x="548640" y="1078920"/>
            <a:ext cx="11064240" cy="360"/>
          </a:xfrm>
          <a:prstGeom prst="line">
            <a:avLst/>
          </a:prstGeom>
          <a:ln w="12700">
            <a:solidFill>
              <a:srgbClr val="D7DF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7" name="Shape 3"/>
          <p:cNvSpPr/>
          <p:nvPr/>
        </p:nvSpPr>
        <p:spPr>
          <a:xfrm>
            <a:off x="841320" y="1572840"/>
            <a:ext cx="10789560" cy="376704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2700">
            <a:solidFill>
              <a:srgbClr val="D7DFEA"/>
            </a:solidFill>
            <a:round/>
          </a:ln>
          <a:effectLst>
            <a:outerShdw algn="bl" blurRad="12600" dir="2700000" dist="50402" kx="0" ky="0" rotWithShape="0" sx="100000" sy="100000">
              <a:srgbClr val="DDE4EF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8" name="Text 4"/>
          <p:cNvSpPr/>
          <p:nvPr/>
        </p:nvSpPr>
        <p:spPr>
          <a:xfrm>
            <a:off x="1234440" y="1901880"/>
            <a:ext cx="9966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MK4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는 “나를 잘 기억하는 챗봇”이 아니라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“기억을 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evidence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로 만들고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, correction</a:t>
            </a:r>
            <a:r>
              <a:rPr lang="ko-KR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으로 다시 고칠 수 있게 하는 로컬 시스템”을 목표로 한다</a:t>
            </a:r>
            <a:r>
              <a:rPr lang="en-US" sz="2400" b="1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9" name="Text 5"/>
          <p:cNvSpPr/>
          <p:nvPr/>
        </p:nvSpPr>
        <p:spPr>
          <a:xfrm>
            <a:off x="1828800" y="3127320"/>
            <a:ext cx="8412120" cy="14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계정이나 플랫폼이 바뀌어도 가져갈 수 있는 기억 구조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prompt</a:t>
            </a:r>
            <a:r>
              <a:rPr lang="ko-KR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아니라 </a:t>
            </a: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memory</a:t>
            </a:r>
            <a:r>
              <a:rPr lang="ko-KR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가 개인화를 담당하는 구조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틀리면 </a:t>
            </a: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correction</a:t>
            </a:r>
            <a:r>
              <a:rPr lang="ko-KR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으로 다시 고치고 </a:t>
            </a: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rebuild</a:t>
            </a:r>
            <a:r>
              <a:rPr lang="ko-KR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할 수 있는 사용자 모델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• LLM</a:t>
            </a:r>
            <a:r>
              <a:rPr lang="ko-KR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을 답변 엔진이 아니라 </a:t>
            </a:r>
            <a:r>
              <a:rPr lang="en-US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cognition substrate</a:t>
            </a:r>
            <a:r>
              <a:rPr lang="ko-KR" sz="1580" b="0" u="none" strike="noStrike">
                <a:solidFill>
                  <a:srgbClr val="1E2A39"/>
                </a:solidFill>
                <a:effectLst/>
                <a:uFillTx/>
                <a:latin typeface="Noto Sans CJK KR"/>
                <a:ea typeface="Noto Sans CJK KR"/>
              </a:rPr>
              <a:t>의 일부로 재배치하려는 시도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0" name="Shape 6"/>
          <p:cNvSpPr/>
          <p:nvPr/>
        </p:nvSpPr>
        <p:spPr>
          <a:xfrm>
            <a:off x="3611880" y="5486400"/>
            <a:ext cx="4937400" cy="621360"/>
          </a:xfrm>
          <a:prstGeom prst="roundRect">
            <a:avLst>
              <a:gd name="adj" fmla="val 11765"/>
            </a:avLst>
          </a:prstGeom>
          <a:solidFill>
            <a:srgbClr val="123C73"/>
          </a:solidFill>
          <a:ln w="12700">
            <a:solidFill>
              <a:srgbClr val="123C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531" name="Text 7"/>
          <p:cNvSpPr/>
          <p:nvPr/>
        </p:nvSpPr>
        <p:spPr>
          <a:xfrm>
            <a:off x="3822120" y="5696640"/>
            <a:ext cx="45259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Noto Sans CJK KR"/>
                <a:ea typeface="Noto Sans CJK KR"/>
              </a:rPr>
              <a:t>Thank you · Q&amp;A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2" name="PlaceHolder 1"/>
          <p:cNvSpPr>
            <a:spLocks noGrp="1"/>
          </p:cNvSpPr>
          <p:nvPr>
            <p:ph type="sldNum" idx="28"/>
          </p:nvPr>
        </p:nvSpPr>
        <p:spPr>
          <a:xfrm>
            <a:off x="11658600" y="6419160"/>
            <a:ext cx="319680" cy="20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54ECE7-CD85-45D8-BDFE-E1728DF3F8BA}" type="slidenum">
              <a:rPr lang="en-US" sz="950" b="0" u="none" strike="noStrike">
                <a:solidFill>
                  <a:srgbClr val="58708E"/>
                </a:solidFill>
                <a:effectLst/>
                <a:uFillTx/>
                <a:latin typeface="Noto Sans CJK KR"/>
                <a:ea typeface="Noto Sans CJK KR"/>
              </a:rPr>
              <a:t>24</a:t>
            </a:fld>
            <a:endParaRPr lang="en-US" sz="95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KR" pitchFamily="0" charset="1"/>
        <a:ea typeface=""/>
        <a:cs typeface=""/>
      </a:majorFont>
      <a:minorFont>
        <a:latin typeface="Noto Sans CJK K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KR" pitchFamily="0" charset="1"/>
        <a:ea typeface=""/>
        <a:cs typeface=""/>
      </a:majorFont>
      <a:minorFont>
        <a:latin typeface="Noto Sans CJK K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LibreOffice/26.2.2.2$Windows_X86_64 LibreOffice_project/1f77d10d6938fd34972958f64b2bcfa54f8b1ba5</Application>
  <AppVersion>15.0000</AppVersion>
  <Words>0</Words>
  <Paragraphs>0</Paragraphs>
  <Company>OpenAI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2026-04-14T08:12:00Z</dcterms:created>
  <dc:creator>OpenAI</dc:creator>
  <dc:description/>
  <dc:language>ko-KR</dc:language>
  <cp:lastModifiedBy/>
  <dcterms:modified xsi:type="dcterms:W3CDTF">2026-04-14T17:52:59Z</dcterms:modified>
  <cp:revision>2</cp:revision>
  <dc:subject>MK4 LLM 발표자료</dc:subject>
  <dc:title>MK4 - LLM 기반 로컬 개인화 기억 시스템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On-screen Show (16:9)</vt:lpwstr>
  </property>
  <property fmtid="{D5CDD505-2E9C-101B-9397-08002B2CF9AE}" pid="4" name="Slides">
    <vt:i4>17</vt:i4>
  </property>
</Properties>
</file>