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image10.svg" ContentType="image/svg"/>
  <Override PartName="/ppt/media/image12.svg" ContentType="image/sv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34FC413C-2ACC-417E-BDD7-9F1188CDF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A8D180-0308-4232-A27F-659FB7EAC1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43FBFA-A345-4B23-A687-B43F5B1B4A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10F66E-F53A-4A37-A87A-52494139CF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176AE9-FCCE-4238-A707-F67B559DAA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2E3F49-C231-44DB-8E43-E3D49B5DB8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B4AF0A-9641-4E30-AB28-444B26C8BD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E4CED9-63F9-4E99-902D-DBDA686C58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B57B33-9DC9-4BC9-9745-0321C9636D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10EC3E-0803-4FEA-8C17-D77CE223A4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E934A2-1EF9-4770-9AFB-6E5B861A32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0A37A3-43FA-4D71-B5B6-3AAADE9D00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285F22-65EE-4E7C-BE90-C911A046F2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25237C-01C7-4563-A6D7-EC760C5C55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391CF7-759A-4023-9B3E-1D566468B3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4352BC-57C7-4AC4-A76D-C02E5F3251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9CC057-9F30-481E-A18A-98079DB6E0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2E1388-3F7C-48BF-923D-DABEED8E0C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DFEE1C-EC28-4C0E-B005-B0362DCF51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8F2975-918C-4594-A617-A267F82A3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E6AF7B-C974-4992-9CC8-18C541E2AB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CA2AC8-7C8E-4D41-9923-6B4B895A4F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AFC83E-0A14-41C0-B012-DA6044CEBB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6AA4BC-1345-44C5-9A74-B6530D1878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C628C1-0D7F-41DC-BF61-8C0F1CD043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CABDEC-3C58-421E-AF28-98FE9364E2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73939E-929C-4A6A-913F-C7ACA73962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K4_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2191040" cy="218880"/>
          </a:xfrm>
          <a:prstGeom prst="rect">
            <a:avLst/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" name="Text 1"/>
          <p:cNvSpPr/>
          <p:nvPr/>
        </p:nvSpPr>
        <p:spPr>
          <a:xfrm>
            <a:off x="502920" y="6446520"/>
            <a:ext cx="6217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MK4 · LLM </a:t>
            </a:r>
            <a:r>
              <a:rPr lang="ko-KR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기반 로컬 개인화 기억 시스템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Text 2"/>
          <p:cNvSpPr/>
          <p:nvPr/>
        </p:nvSpPr>
        <p:spPr>
          <a:xfrm>
            <a:off x="9418320" y="6446520"/>
            <a:ext cx="2193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AI Academy Project Presentation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F96803B-7D1E-46C1-9715-86515DDA5D18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&lt;숫자&gt;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K4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2A7CFB-D438-4F83-BDD3-6B3107AC944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040" cy="218880"/>
          </a:xfrm>
          <a:prstGeom prst="rect">
            <a:avLst/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02920" y="6446520"/>
            <a:ext cx="6217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MK4 · Troubleshooting Insert Slides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Text 2"/>
          <p:cNvSpPr/>
          <p:nvPr/>
        </p:nvSpPr>
        <p:spPr>
          <a:xfrm>
            <a:off x="9418320" y="6446520"/>
            <a:ext cx="2193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AI Academy Project Presentation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sldNum" idx="2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C62BF2-B4EA-4072-B10C-0F22250B7A28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&lt;숫자&gt;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640080" y="640080"/>
            <a:ext cx="10926360" cy="5302800"/>
          </a:xfrm>
          <a:prstGeom prst="roundRect">
            <a:avLst>
              <a:gd name="adj" fmla="val 862"/>
            </a:avLst>
          </a:prstGeom>
          <a:solidFill>
            <a:srgbClr val="101B2E">
              <a:alpha val="92000"/>
            </a:srgbClr>
          </a:solidFill>
          <a:ln w="12700">
            <a:solidFill>
              <a:srgbClr val="2A3B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960120" y="1051560"/>
            <a:ext cx="10241280" cy="360"/>
          </a:xfrm>
          <a:prstGeom prst="line">
            <a:avLst/>
          </a:prstGeom>
          <a:ln w="12700">
            <a:solidFill>
              <a:srgbClr val="2335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Text 3"/>
          <p:cNvSpPr/>
          <p:nvPr/>
        </p:nvSpPr>
        <p:spPr>
          <a:xfrm>
            <a:off x="1051560" y="1261800"/>
            <a:ext cx="5248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MACHI : MK4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Text 4"/>
          <p:cNvSpPr/>
          <p:nvPr/>
        </p:nvSpPr>
        <p:spPr>
          <a:xfrm>
            <a:off x="1051560" y="1993320"/>
            <a:ext cx="5851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300" b="1" u="none" strike="noStrike">
                <a:solidFill>
                  <a:srgbClr val="DCE8FF"/>
                </a:solidFill>
                <a:effectLst/>
                <a:uFillTx/>
                <a:latin typeface="Noto Sans CJK KR"/>
                <a:ea typeface="Noto Sans CJK KR"/>
              </a:rPr>
              <a:t>LLM </a:t>
            </a:r>
            <a:r>
              <a:rPr lang="ko-KR" sz="2300" b="1" u="none" strike="noStrike">
                <a:solidFill>
                  <a:srgbClr val="DCE8FF"/>
                </a:solidFill>
                <a:effectLst/>
                <a:uFillTx/>
                <a:latin typeface="Noto Sans CJK KR"/>
                <a:ea typeface="Noto Sans CJK KR"/>
              </a:rPr>
              <a:t>기반 로컬 개인화 기억 시스템 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Text 5"/>
          <p:cNvSpPr/>
          <p:nvPr/>
        </p:nvSpPr>
        <p:spPr>
          <a:xfrm>
            <a:off x="1078920" y="2788920"/>
            <a:ext cx="4937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FB4D1"/>
                </a:solidFill>
                <a:effectLst/>
                <a:uFillTx/>
                <a:latin typeface="Noto Sans CJK KR"/>
                <a:ea typeface="Noto Sans CJK KR"/>
              </a:rPr>
              <a:t>“잘 답하는 챗봇”이 아니라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9FB4D1"/>
                </a:solidFill>
                <a:effectLst/>
                <a:uFillTx/>
                <a:latin typeface="Noto Sans CJK KR"/>
                <a:ea typeface="Noto Sans CJK KR"/>
              </a:rPr>
              <a:t>시간이 지날수록 사용자를 더 일관되게 이해하는 </a:t>
            </a:r>
            <a:r>
              <a:rPr lang="en-US" sz="1700" b="0" u="none" strike="noStrike">
                <a:solidFill>
                  <a:srgbClr val="9FB4D1"/>
                </a:solidFill>
                <a:effectLst/>
                <a:uFillTx/>
                <a:latin typeface="Noto Sans CJK KR"/>
                <a:ea typeface="Noto Sans CJK KR"/>
              </a:rPr>
              <a:t>memory layer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1078920" y="4096440"/>
            <a:ext cx="175500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Text 7"/>
          <p:cNvSpPr/>
          <p:nvPr/>
        </p:nvSpPr>
        <p:spPr>
          <a:xfrm>
            <a:off x="1078920" y="4133160"/>
            <a:ext cx="17550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LLM WEEK PRESENTATION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Text 8"/>
          <p:cNvSpPr/>
          <p:nvPr/>
        </p:nvSpPr>
        <p:spPr>
          <a:xfrm>
            <a:off x="1097280" y="464508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A8B7CC"/>
                </a:solidFill>
                <a:effectLst/>
                <a:uFillTx/>
                <a:latin typeface="Noto Sans CJK KR"/>
                <a:ea typeface="Noto Sans CJK KR"/>
              </a:rPr>
              <a:t>발표자 </a:t>
            </a:r>
            <a:r>
              <a:rPr lang="en-US" sz="1100" b="0" u="none" strike="noStrike">
                <a:solidFill>
                  <a:srgbClr val="A8B7CC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ko-KR" sz="1100" b="0" u="none" strike="noStrike">
                <a:solidFill>
                  <a:srgbClr val="A8B7CC"/>
                </a:solidFill>
                <a:effectLst/>
                <a:uFillTx/>
                <a:latin typeface="Noto Sans CJK KR"/>
                <a:ea typeface="Noto Sans CJK KR"/>
              </a:rPr>
              <a:t>신재용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543800" y="1508760"/>
            <a:ext cx="1142280" cy="114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89720" y="1527120"/>
            <a:ext cx="1142280" cy="114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366760" y="3154680"/>
            <a:ext cx="114228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9"/>
          <p:cNvSpPr/>
          <p:nvPr/>
        </p:nvSpPr>
        <p:spPr>
          <a:xfrm>
            <a:off x="8366760" y="2148840"/>
            <a:ext cx="914400" cy="360"/>
          </a:xfrm>
          <a:prstGeom prst="line">
            <a:avLst/>
          </a:prstGeom>
          <a:ln w="12700">
            <a:solidFill>
              <a:srgbClr val="3750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8961120" y="2651760"/>
            <a:ext cx="360" cy="822960"/>
          </a:xfrm>
          <a:prstGeom prst="line">
            <a:avLst/>
          </a:prstGeom>
          <a:ln w="12700">
            <a:solidFill>
              <a:srgbClr val="3750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7040880" y="4526280"/>
            <a:ext cx="3839760" cy="986760"/>
          </a:xfrm>
          <a:prstGeom prst="roundRect">
            <a:avLst>
              <a:gd name="adj" fmla="val 7407"/>
            </a:avLst>
          </a:prstGeom>
          <a:solidFill>
            <a:srgbClr val="13243C"/>
          </a:solidFill>
          <a:ln w="12700">
            <a:solidFill>
              <a:srgbClr val="2335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7269480" y="4736520"/>
            <a:ext cx="3382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F0FF"/>
                </a:solidFill>
                <a:effectLst/>
                <a:uFillTx/>
                <a:latin typeface="Noto Sans CJK KR"/>
                <a:ea typeface="Noto Sans CJK KR"/>
              </a:rPr>
              <a:t>Evidence · Correction · Topic · Promotion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7452360" y="5074920"/>
            <a:ext cx="3062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C1E8"/>
                </a:solidFill>
                <a:effectLst/>
                <a:uFillTx/>
                <a:latin typeface="Noto Sans CJK KR"/>
                <a:ea typeface="Noto Sans CJK KR"/>
              </a:rPr>
              <a:t>memory-driven personalization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목차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AGENDA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749880" y="141732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Text 4"/>
          <p:cNvSpPr/>
          <p:nvPr/>
        </p:nvSpPr>
        <p:spPr>
          <a:xfrm>
            <a:off x="914400" y="161856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Text 5"/>
          <p:cNvSpPr/>
          <p:nvPr/>
        </p:nvSpPr>
        <p:spPr>
          <a:xfrm>
            <a:off x="1554480" y="15818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프로젝트 배경과 목적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Text 6"/>
          <p:cNvSpPr/>
          <p:nvPr/>
        </p:nvSpPr>
        <p:spPr>
          <a:xfrm>
            <a:off x="1572840" y="190188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왜 이 프로젝트를 시작했는가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749880" y="284364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9FBFE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Text 8"/>
          <p:cNvSpPr/>
          <p:nvPr/>
        </p:nvSpPr>
        <p:spPr>
          <a:xfrm>
            <a:off x="914400" y="304488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Text 9"/>
          <p:cNvSpPr/>
          <p:nvPr/>
        </p:nvSpPr>
        <p:spPr>
          <a:xfrm>
            <a:off x="1554480" y="300852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핵심 개념과 철학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1572840" y="332856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evidence-first / correction-first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749880" y="427032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914400" y="447156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1554480" y="44348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시스템 구조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1572840" y="475488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입력 → 기억 → 응답 재사용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6355080" y="141732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9FBFE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6519600" y="161856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7159680" y="15818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구현 상태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7178040" y="190188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개념 구현 완료 범위와 한계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Shape 19"/>
          <p:cNvSpPr/>
          <p:nvPr/>
        </p:nvSpPr>
        <p:spPr>
          <a:xfrm>
            <a:off x="6355080" y="284364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6519600" y="304488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05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7159680" y="300852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7178040" y="332856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방향성과 구조에서 맞닥뜨린 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6355080" y="427032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9FBFE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6519600" y="447156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06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7159680" y="44348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향후 확장과 </a:t>
            </a:r>
            <a:r>
              <a:rPr lang="en-US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7178040" y="475488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남은 과제와 다음 단계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sldNum" idx="6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8F5D74-74CE-4C3E-8884-3B4FC7A7F98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왜 기존 대화형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LLM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만으로는 부족했는가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PROBLEM DEFINITION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749880" y="1417320"/>
            <a:ext cx="5165640" cy="169992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951120" y="1618560"/>
            <a:ext cx="502200" cy="502200"/>
          </a:xfrm>
          <a:prstGeom prst="roundRect">
            <a:avLst>
              <a:gd name="adj" fmla="val 32727"/>
            </a:avLst>
          </a:prstGeom>
          <a:solidFill>
            <a:srgbClr val="E85C5C"/>
          </a:solidFill>
          <a:ln w="12700">
            <a:solidFill>
              <a:srgbClr val="E85C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Text 5"/>
          <p:cNvSpPr/>
          <p:nvPr/>
        </p:nvSpPr>
        <p:spPr>
          <a:xfrm>
            <a:off x="1591200" y="1581840"/>
            <a:ext cx="1828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대화 로그는 남아도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이해 구조는 남지 않음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591200" y="225864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세션이 이어져도 “왜 그렇게 이해했는지”와 “무엇이 수정돼야 하는지”가 분리되어 있지 않다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6282000" y="1417320"/>
            <a:ext cx="5165640" cy="169992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6483240" y="1618560"/>
            <a:ext cx="502200" cy="502200"/>
          </a:xfrm>
          <a:prstGeom prst="roundRect">
            <a:avLst>
              <a:gd name="adj" fmla="val 32727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Text 9"/>
          <p:cNvSpPr/>
          <p:nvPr/>
        </p:nvSpPr>
        <p:spPr>
          <a:xfrm>
            <a:off x="7123320" y="1581840"/>
            <a:ext cx="1828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프롬프트 이전 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개인화 이전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7123320" y="225864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설명 문서를 새 계정에 넣어도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모델은 그대로 이어받기보다 다시 검증하고 재해석한다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749880" y="3566160"/>
            <a:ext cx="5165640" cy="169992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951120" y="3767400"/>
            <a:ext cx="502200" cy="502200"/>
          </a:xfrm>
          <a:prstGeom prst="roundRect">
            <a:avLst>
              <a:gd name="adj" fmla="val 32727"/>
            </a:avLst>
          </a:prstGeom>
          <a:solidFill>
            <a:srgbClr val="22A06B"/>
          </a:solidFill>
          <a:ln w="12700">
            <a:solidFill>
              <a:srgbClr val="22A0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1591200" y="3730680"/>
            <a:ext cx="1828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기억은 종종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수정 불가능한 누적 로그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1591200" y="440748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저장된 내용이 틀려도 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correction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으로 다시 깨고 재구성하는 구조가 약하다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6282000" y="3566160"/>
            <a:ext cx="5165640" cy="169992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Shape 16"/>
          <p:cNvSpPr/>
          <p:nvPr/>
        </p:nvSpPr>
        <p:spPr>
          <a:xfrm>
            <a:off x="6483240" y="3767400"/>
            <a:ext cx="502200" cy="502200"/>
          </a:xfrm>
          <a:prstGeom prst="roundRect">
            <a:avLst>
              <a:gd name="adj" fmla="val 32727"/>
            </a:avLst>
          </a:prstGeom>
          <a:solidFill>
            <a:srgbClr val="7B61FF"/>
          </a:solidFill>
          <a:ln w="1270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7123320" y="3730680"/>
            <a:ext cx="1828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플랫폼 종속 기억은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사용자 소유가 아님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7123320" y="440748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계정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회사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서비스가 바뀌면 장기 기억과 축적된 맥락도 함께 끊길 수 있다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sldNum" idx="7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FA5829-F056-4044-A35F-4A48832437D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3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프로젝트 목적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ORIGIN STORY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731520" y="1371600"/>
            <a:ext cx="5302800" cy="42055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Text 4"/>
          <p:cNvSpPr/>
          <p:nvPr/>
        </p:nvSpPr>
        <p:spPr>
          <a:xfrm>
            <a:off x="932760" y="162756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문제의 출발점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Text 5"/>
          <p:cNvSpPr/>
          <p:nvPr/>
        </p:nvSpPr>
        <p:spPr>
          <a:xfrm>
            <a:off x="941760" y="2030040"/>
            <a:ext cx="461700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퇴사 후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회사 계정으로 쓰던 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GPT</a:t>
            </a:r>
            <a:r>
              <a:rPr lang="ko-KR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 더 이상 접근할 수 없었다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기존 계정의 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GPT</a:t>
            </a:r>
            <a:r>
              <a:rPr lang="ko-KR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에게 “나를 어떻게 이해하고 있었는지 정리해달라”고 요청했다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그 문서를 새 개인 계정에 넣어도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대화가 곧바로 이어지는 것이 아니라 다시 검증부터 시작했다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932760" y="4041720"/>
            <a:ext cx="4735800" cy="1023480"/>
          </a:xfrm>
          <a:prstGeom prst="roundRect">
            <a:avLst>
              <a:gd name="adj" fmla="val 7143"/>
            </a:avLst>
          </a:prstGeom>
          <a:solidFill>
            <a:srgbClr val="EDF4FF"/>
          </a:solidFill>
          <a:ln w="12700">
            <a:solidFill>
              <a:srgbClr val="CFE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" name="Text 7"/>
          <p:cNvSpPr/>
          <p:nvPr/>
        </p:nvSpPr>
        <p:spPr>
          <a:xfrm>
            <a:off x="1134000" y="4370760"/>
            <a:ext cx="4296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즉</a:t>
            </a:r>
            <a:r>
              <a:rPr lang="en-US" sz="160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, “</a:t>
            </a:r>
            <a:r>
              <a:rPr lang="ko-KR" sz="160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기억의 이전”이 곧 “이해의 이전”은 아니었다</a:t>
            </a:r>
            <a:r>
              <a:rPr lang="en-US" sz="160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6309360" y="1371600"/>
            <a:ext cx="5165640" cy="4205520"/>
          </a:xfrm>
          <a:prstGeom prst="roundRect">
            <a:avLst>
              <a:gd name="adj" fmla="val 1739"/>
            </a:avLst>
          </a:prstGeom>
          <a:solidFill>
            <a:srgbClr val="101B2E"/>
          </a:solidFill>
          <a:ln w="12700">
            <a:solidFill>
              <a:srgbClr val="22334E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Text 9"/>
          <p:cNvSpPr/>
          <p:nvPr/>
        </p:nvSpPr>
        <p:spPr>
          <a:xfrm>
            <a:off x="6583680" y="164592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문제의식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65320" y="2103120"/>
            <a:ext cx="657720" cy="65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0"/>
          <p:cNvSpPr/>
          <p:nvPr/>
        </p:nvSpPr>
        <p:spPr>
          <a:xfrm>
            <a:off x="7315200" y="2221920"/>
            <a:ext cx="3474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FFF2D9"/>
                </a:solidFill>
                <a:effectLst/>
                <a:uFillTx/>
                <a:latin typeface="Noto Sans CJK KR"/>
                <a:ea typeface="Noto Sans CJK KR"/>
              </a:rPr>
              <a:t>모델의 기억에 대한 사유화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6583680" y="2880360"/>
            <a:ext cx="447984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• 기억이 계정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플랫폼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회사 소유처럼 묶이면 사용자는 자신의 장기 맥락을 잃는다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• 대화 기록이 남아도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구조화된 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user model</a:t>
            </a:r>
            <a:r>
              <a:rPr lang="ko-KR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이 아니면 다른 환경으로 쉽게 이전되지 않는다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• 그래서 “내 기억을 내가 보유하고 고칠 수 있는 로컬 시스템”이 필요하다고 봤다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6602040" y="4645080"/>
            <a:ext cx="4571280" cy="657720"/>
          </a:xfrm>
          <a:prstGeom prst="roundRect">
            <a:avLst>
              <a:gd name="adj" fmla="val 11111"/>
            </a:avLst>
          </a:prstGeom>
          <a:solidFill>
            <a:srgbClr val="173050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6812280" y="4837320"/>
            <a:ext cx="4159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목표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기억을 플랫폼의 부속물이 아니라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사용자가 통제 가능한 구조로 만들기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sldNum" idx="8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4A4C9E-EA7F-491E-9557-BDB6AAF1F2C9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4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핵심 아이디어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KEY CONCEPT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749880" y="1600200"/>
            <a:ext cx="3245400" cy="3583800"/>
          </a:xfrm>
          <a:prstGeom prst="roundRect">
            <a:avLst>
              <a:gd name="adj" fmla="val 2254"/>
            </a:avLst>
          </a:prstGeom>
          <a:solidFill>
            <a:srgbClr val="EDF4FF"/>
          </a:solidFill>
          <a:ln w="12700">
            <a:solidFill>
              <a:srgbClr val="D8E4F2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92880" y="188352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4"/>
          <p:cNvSpPr/>
          <p:nvPr/>
        </p:nvSpPr>
        <p:spPr>
          <a:xfrm>
            <a:off x="1069920" y="2926080"/>
            <a:ext cx="260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Evidence-first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060560" y="3401640"/>
            <a:ext cx="26326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채팅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첨부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·ZIP artifact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곧바로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로 확정하지 않고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먼저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evidence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로 저장한 뒤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tier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을 거쳐 반영한다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4078080" y="1600200"/>
            <a:ext cx="3245400" cy="3583800"/>
          </a:xfrm>
          <a:prstGeom prst="roundRect">
            <a:avLst>
              <a:gd name="adj" fmla="val 2254"/>
            </a:avLst>
          </a:prstGeom>
          <a:solidFill>
            <a:srgbClr val="EAF9F5"/>
          </a:solidFill>
          <a:ln w="12700">
            <a:solidFill>
              <a:srgbClr val="D8E4F2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11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221080" y="188352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7"/>
          <p:cNvSpPr/>
          <p:nvPr/>
        </p:nvSpPr>
        <p:spPr>
          <a:xfrm>
            <a:off x="4398120" y="2926080"/>
            <a:ext cx="260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Correction-first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4389120" y="3401640"/>
            <a:ext cx="26326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잘못 형성된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을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correction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으로 깨고 다시 세울 수 있어야 한다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오염을 “영구 기록”으로 두지 않는다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7406640" y="1600200"/>
            <a:ext cx="3245400" cy="3583800"/>
          </a:xfrm>
          <a:prstGeom prst="roundRect">
            <a:avLst>
              <a:gd name="adj" fmla="val 2254"/>
            </a:avLst>
          </a:prstGeom>
          <a:solidFill>
            <a:srgbClr val="F5F0FF"/>
          </a:solidFill>
          <a:ln w="12700">
            <a:solidFill>
              <a:srgbClr val="D8E4F2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15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549640" y="188352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10"/>
          <p:cNvSpPr/>
          <p:nvPr/>
        </p:nvSpPr>
        <p:spPr>
          <a:xfrm>
            <a:off x="7726680" y="2926080"/>
            <a:ext cx="260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Revisable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7717680" y="3401640"/>
            <a:ext cx="26326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confirmed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조차 절대 진실이 아니라 현재 시점의 가설이다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필요하면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rebuild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demote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가능한 구조를 지향한다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2486880" y="5577840"/>
            <a:ext cx="7269480" cy="360"/>
          </a:xfrm>
          <a:prstGeom prst="line">
            <a:avLst/>
          </a:prstGeom>
          <a:ln w="12700">
            <a:solidFill>
              <a:srgbClr val="BFD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1005840" y="5706000"/>
            <a:ext cx="10011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한 줄 요약  </a:t>
            </a:r>
            <a:r>
              <a:rPr lang="en-US" sz="132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·  “</a:t>
            </a:r>
            <a:r>
              <a:rPr lang="ko-KR" sz="132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정답을 빨리 말하는 모델”보다 “나를 더 일관되게 이해하고 틀리면 다시 고칠 수 있는 로컬 시스템”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sldNum" idx="9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2562A0-838B-453A-99D7-4BDFED883E48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5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기존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LLM 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활용과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차이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ROLE OF THE 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777240" y="1463040"/>
            <a:ext cx="5302800" cy="379404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6144840" y="1463040"/>
            <a:ext cx="5257080" cy="3794040"/>
          </a:xfrm>
          <a:prstGeom prst="roundRect">
            <a:avLst>
              <a:gd name="adj" fmla="val 1928"/>
            </a:avLst>
          </a:prstGeom>
          <a:solidFill>
            <a:srgbClr val="F2F7FF"/>
          </a:solidFill>
          <a:ln w="12700">
            <a:solidFill>
              <a:srgbClr val="D7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969120" y="1700640"/>
            <a:ext cx="1553760" cy="310320"/>
          </a:xfrm>
          <a:prstGeom prst="roundRect">
            <a:avLst>
              <a:gd name="adj" fmla="val 35294"/>
            </a:avLst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969120" y="1737360"/>
            <a:ext cx="1553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일반적인 챗봇 활용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6373440" y="1700640"/>
            <a:ext cx="82224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6373440" y="1737360"/>
            <a:ext cx="8222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1005840" y="2194560"/>
            <a:ext cx="452556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프롬프트와 대화 맥락으로 그때그때 응답 생성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장기 기억은 계정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플랫폼에 종속되기 쉬움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기억이 누적 로그처럼 쌓여도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구조는 약함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“이번 답변” 품질이 중심 지표가 되기 쉬움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6382440" y="2194560"/>
            <a:ext cx="44798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LLM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은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추출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응답 생성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retrieval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보조 역할을 맡음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핵심은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 / correction / promotion / rebuild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있는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구조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입력 채널이 달라도 공통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의미론으로 수렴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중심 지표는 장기적으로 더 일관된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user model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형성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2834640" y="5486400"/>
            <a:ext cx="65829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3035880" y="5660280"/>
            <a:ext cx="6125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즉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MK4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LLM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을 “답변 엔진”으로만 쓰지 않고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revisable memory substrate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의 일부로 배치한다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sldNum" idx="10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247EE5-82B6-46CD-BF20-44BE4BCD8B79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6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시스템 전체 구조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SYSTEM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713160" y="1828800"/>
            <a:ext cx="2376720" cy="33368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3429000" y="1828800"/>
            <a:ext cx="3656880" cy="3336840"/>
          </a:xfrm>
          <a:prstGeom prst="roundRect">
            <a:avLst>
              <a:gd name="adj" fmla="val 2192"/>
            </a:avLst>
          </a:prstGeom>
          <a:solidFill>
            <a:srgbClr val="F3F8FF"/>
          </a:solidFill>
          <a:ln w="12700">
            <a:solidFill>
              <a:srgbClr val="D4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7452360" y="1828800"/>
            <a:ext cx="3976920" cy="3336840"/>
          </a:xfrm>
          <a:prstGeom prst="roundRect">
            <a:avLst>
              <a:gd name="adj" fmla="val 2192"/>
            </a:avLst>
          </a:prstGeom>
          <a:solidFill>
            <a:srgbClr val="F9FBFE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941760" y="2084760"/>
            <a:ext cx="1096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914400" y="25419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1005840" y="26244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일반 채팅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914400" y="29991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1005840" y="30816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914400" y="34563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1005840" y="35388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ZIP artifact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" name="Shape 13"/>
          <p:cNvSpPr/>
          <p:nvPr/>
        </p:nvSpPr>
        <p:spPr>
          <a:xfrm>
            <a:off x="914400" y="39135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1005840" y="39960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project </a:t>
            </a:r>
            <a:r>
              <a:rPr lang="ko-KR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질문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" name="Shape 15"/>
          <p:cNvSpPr/>
          <p:nvPr/>
        </p:nvSpPr>
        <p:spPr>
          <a:xfrm>
            <a:off x="914400" y="43707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1F1"/>
          </a:solidFill>
          <a:ln w="12700">
            <a:solidFill>
              <a:srgbClr val="F2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1005840" y="44532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 </a:t>
            </a:r>
            <a:r>
              <a:rPr lang="ko-KR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3657600" y="208476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공통 처리 계층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" name="Shape 18"/>
          <p:cNvSpPr/>
          <p:nvPr/>
        </p:nvSpPr>
        <p:spPr>
          <a:xfrm>
            <a:off x="3749040" y="248724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3913560" y="255132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추출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3749040" y="287136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EEF5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6" name="Text 21"/>
          <p:cNvSpPr/>
          <p:nvPr/>
        </p:nvSpPr>
        <p:spPr>
          <a:xfrm>
            <a:off x="3913560" y="293508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Normalization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7" name="Shape 22"/>
          <p:cNvSpPr/>
          <p:nvPr/>
        </p:nvSpPr>
        <p:spPr>
          <a:xfrm>
            <a:off x="3749040" y="325512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8" name="Text 23"/>
          <p:cNvSpPr/>
          <p:nvPr/>
        </p:nvSpPr>
        <p:spPr>
          <a:xfrm>
            <a:off x="3913560" y="331920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 Router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9" name="Shape 24"/>
          <p:cNvSpPr/>
          <p:nvPr/>
        </p:nvSpPr>
        <p:spPr>
          <a:xfrm>
            <a:off x="3749040" y="363924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EEF5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0" name="Text 25"/>
          <p:cNvSpPr/>
          <p:nvPr/>
        </p:nvSpPr>
        <p:spPr>
          <a:xfrm>
            <a:off x="3913560" y="370332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 Apply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1" name="Shape 26"/>
          <p:cNvSpPr/>
          <p:nvPr/>
        </p:nvSpPr>
        <p:spPr>
          <a:xfrm>
            <a:off x="3749040" y="402336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Text 27"/>
          <p:cNvSpPr/>
          <p:nvPr/>
        </p:nvSpPr>
        <p:spPr>
          <a:xfrm>
            <a:off x="3913560" y="408744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Promotion / Rebuild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3" name="Shape 28"/>
          <p:cNvSpPr/>
          <p:nvPr/>
        </p:nvSpPr>
        <p:spPr>
          <a:xfrm>
            <a:off x="3749040" y="440748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EEF5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4" name="Text 29"/>
          <p:cNvSpPr/>
          <p:nvPr/>
        </p:nvSpPr>
        <p:spPr>
          <a:xfrm>
            <a:off x="3913560" y="447156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Response Retrieval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5" name="Text 30"/>
          <p:cNvSpPr/>
          <p:nvPr/>
        </p:nvSpPr>
        <p:spPr>
          <a:xfrm>
            <a:off x="7680960" y="2084760"/>
            <a:ext cx="12794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저장 </a:t>
            </a:r>
            <a:r>
              <a:rPr lang="en-US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재사용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Shape 31"/>
          <p:cNvSpPr/>
          <p:nvPr/>
        </p:nvSpPr>
        <p:spPr>
          <a:xfrm>
            <a:off x="7772400" y="256032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7" name="Text 32"/>
          <p:cNvSpPr/>
          <p:nvPr/>
        </p:nvSpPr>
        <p:spPr>
          <a:xfrm>
            <a:off x="7900560" y="271584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8" name="Shape 33"/>
          <p:cNvSpPr/>
          <p:nvPr/>
        </p:nvSpPr>
        <p:spPr>
          <a:xfrm>
            <a:off x="9464040" y="256032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9" name="Text 34"/>
          <p:cNvSpPr/>
          <p:nvPr/>
        </p:nvSpPr>
        <p:spPr>
          <a:xfrm>
            <a:off x="9592200" y="271584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Profiles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0" name="Shape 35"/>
          <p:cNvSpPr/>
          <p:nvPr/>
        </p:nvSpPr>
        <p:spPr>
          <a:xfrm>
            <a:off x="7772400" y="325512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1" name="Text 36"/>
          <p:cNvSpPr/>
          <p:nvPr/>
        </p:nvSpPr>
        <p:spPr>
          <a:xfrm>
            <a:off x="7900560" y="341064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2" name="Shape 37"/>
          <p:cNvSpPr/>
          <p:nvPr/>
        </p:nvSpPr>
        <p:spPr>
          <a:xfrm>
            <a:off x="9464040" y="325512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Text 38"/>
          <p:cNvSpPr/>
          <p:nvPr/>
        </p:nvSpPr>
        <p:spPr>
          <a:xfrm>
            <a:off x="9592200" y="341064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Episodes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4" name="Shape 39"/>
          <p:cNvSpPr/>
          <p:nvPr/>
        </p:nvSpPr>
        <p:spPr>
          <a:xfrm>
            <a:off x="7772400" y="395028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5" name="Text 40"/>
          <p:cNvSpPr/>
          <p:nvPr/>
        </p:nvSpPr>
        <p:spPr>
          <a:xfrm>
            <a:off x="7900560" y="410580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States / Summaries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6" name="Shape 41"/>
          <p:cNvSpPr/>
          <p:nvPr/>
        </p:nvSpPr>
        <p:spPr>
          <a:xfrm>
            <a:off x="9464040" y="395028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7" name="Text 42"/>
          <p:cNvSpPr/>
          <p:nvPr/>
        </p:nvSpPr>
        <p:spPr>
          <a:xfrm>
            <a:off x="9592200" y="410580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Projects / Chunks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8" name="Shape 43"/>
          <p:cNvSpPr/>
          <p:nvPr/>
        </p:nvSpPr>
        <p:spPr>
          <a:xfrm>
            <a:off x="3063240" y="3447000"/>
            <a:ext cx="274320" cy="360"/>
          </a:xfrm>
          <a:prstGeom prst="line">
            <a:avLst/>
          </a:prstGeom>
          <a:ln w="12700">
            <a:solidFill>
              <a:srgbClr val="2C6FD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9" name="Shape 44"/>
          <p:cNvSpPr/>
          <p:nvPr/>
        </p:nvSpPr>
        <p:spPr>
          <a:xfrm>
            <a:off x="7086600" y="3447000"/>
            <a:ext cx="274320" cy="360"/>
          </a:xfrm>
          <a:prstGeom prst="line">
            <a:avLst/>
          </a:prstGeom>
          <a:ln w="12700">
            <a:solidFill>
              <a:srgbClr val="2C6FD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0" name="Shape 45"/>
          <p:cNvSpPr/>
          <p:nvPr/>
        </p:nvSpPr>
        <p:spPr>
          <a:xfrm>
            <a:off x="3611880" y="5440680"/>
            <a:ext cx="443412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81" name="Text 46"/>
          <p:cNvSpPr/>
          <p:nvPr/>
        </p:nvSpPr>
        <p:spPr>
          <a:xfrm>
            <a:off x="3803760" y="5614560"/>
            <a:ext cx="4068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입력 채널은 다르지만</a:t>
            </a: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기억으로 들어갈 때는 같은 의미론으로 수렴해야 한다</a:t>
            </a: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sldNum" idx="11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1CAB68-B471-41A2-B379-358F8CF55DC7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6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핵심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 pipeline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INPUT → EVIDENCE → REUSE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64008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EDF4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74988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74988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chat / attachment / artifact / correction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228600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254196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4F8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265176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추출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265176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원문을 곧바로 </a:t>
            </a: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로 확정하지 않음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418788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444384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455364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정규화</a:t>
            </a:r>
            <a:r>
              <a:rPr lang="en-US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·topic </a:t>
            </a: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결정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455364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active topic </a:t>
            </a:r>
            <a:r>
              <a:rPr lang="ko-KR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유지 </a:t>
            </a: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 attach / create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608976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634608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4FFF9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645552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반영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645552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general / candidate / confirmed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799200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824796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FF9F0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3" name="Text 20"/>
          <p:cNvSpPr/>
          <p:nvPr/>
        </p:nvSpPr>
        <p:spPr>
          <a:xfrm>
            <a:off x="835776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promotion / rebuild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835776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repeat / confidence / correction </a:t>
            </a:r>
            <a:r>
              <a:rPr lang="ko-KR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반영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Shape 22"/>
          <p:cNvSpPr/>
          <p:nvPr/>
        </p:nvSpPr>
        <p:spPr>
          <a:xfrm>
            <a:off x="989388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Shape 23"/>
          <p:cNvSpPr/>
          <p:nvPr/>
        </p:nvSpPr>
        <p:spPr>
          <a:xfrm>
            <a:off x="1014984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7F2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7" name="Text 24"/>
          <p:cNvSpPr/>
          <p:nvPr/>
        </p:nvSpPr>
        <p:spPr>
          <a:xfrm>
            <a:off x="1025964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다음 턴 재사용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8" name="Text 25"/>
          <p:cNvSpPr/>
          <p:nvPr/>
        </p:nvSpPr>
        <p:spPr>
          <a:xfrm>
            <a:off x="1025964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retrieval + response building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Text 26"/>
          <p:cNvSpPr/>
          <p:nvPr/>
        </p:nvSpPr>
        <p:spPr>
          <a:xfrm>
            <a:off x="868680" y="4316040"/>
            <a:ext cx="1233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의미론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0" name="Shape 27"/>
          <p:cNvSpPr/>
          <p:nvPr/>
        </p:nvSpPr>
        <p:spPr>
          <a:xfrm>
            <a:off x="868680" y="4617720"/>
            <a:ext cx="3245400" cy="876960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1" name="Shape 28"/>
          <p:cNvSpPr/>
          <p:nvPr/>
        </p:nvSpPr>
        <p:spPr>
          <a:xfrm>
            <a:off x="996840" y="4773240"/>
            <a:ext cx="84060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2" name="Text 29"/>
          <p:cNvSpPr/>
          <p:nvPr/>
        </p:nvSpPr>
        <p:spPr>
          <a:xfrm>
            <a:off x="996840" y="4809600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general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3" name="Text 30"/>
          <p:cNvSpPr/>
          <p:nvPr/>
        </p:nvSpPr>
        <p:spPr>
          <a:xfrm>
            <a:off x="1929240" y="4827960"/>
            <a:ext cx="1901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저장 가치는 있지만 기본 응답에는 주입하지 않는 층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Shape 31"/>
          <p:cNvSpPr/>
          <p:nvPr/>
        </p:nvSpPr>
        <p:spPr>
          <a:xfrm>
            <a:off x="4617720" y="4617720"/>
            <a:ext cx="3245400" cy="876960"/>
          </a:xfrm>
          <a:prstGeom prst="roundRect">
            <a:avLst>
              <a:gd name="adj" fmla="val 8333"/>
            </a:avLst>
          </a:prstGeom>
          <a:solidFill>
            <a:srgbClr val="EAF9F5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5" name="Shape 32"/>
          <p:cNvSpPr/>
          <p:nvPr/>
        </p:nvSpPr>
        <p:spPr>
          <a:xfrm>
            <a:off x="4745880" y="4773240"/>
            <a:ext cx="840600" cy="310320"/>
          </a:xfrm>
          <a:prstGeom prst="roundRect">
            <a:avLst>
              <a:gd name="adj" fmla="val 35294"/>
            </a:avLst>
          </a:prstGeom>
          <a:solidFill>
            <a:srgbClr val="179D8E"/>
          </a:solidFill>
          <a:ln w="12700">
            <a:solidFill>
              <a:srgbClr val="179D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Text 33"/>
          <p:cNvSpPr/>
          <p:nvPr/>
        </p:nvSpPr>
        <p:spPr>
          <a:xfrm>
            <a:off x="4745880" y="4809600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candidate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Text 34"/>
          <p:cNvSpPr/>
          <p:nvPr/>
        </p:nvSpPr>
        <p:spPr>
          <a:xfrm>
            <a:off x="5678280" y="4827960"/>
            <a:ext cx="1901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승격 후보로 누적되는 </a:t>
            </a:r>
            <a:r>
              <a:rPr lang="en-US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층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8" name="Shape 35"/>
          <p:cNvSpPr/>
          <p:nvPr/>
        </p:nvSpPr>
        <p:spPr>
          <a:xfrm>
            <a:off x="8366760" y="4617720"/>
            <a:ext cx="3245400" cy="876960"/>
          </a:xfrm>
          <a:prstGeom prst="roundRect">
            <a:avLst>
              <a:gd name="adj" fmla="val 8333"/>
            </a:avLst>
          </a:prstGeom>
          <a:solidFill>
            <a:srgbClr val="FFF5E8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9" name="Shape 36"/>
          <p:cNvSpPr/>
          <p:nvPr/>
        </p:nvSpPr>
        <p:spPr>
          <a:xfrm>
            <a:off x="8494920" y="4773240"/>
            <a:ext cx="840600" cy="310320"/>
          </a:xfrm>
          <a:prstGeom prst="roundRect">
            <a:avLst>
              <a:gd name="adj" fmla="val 35294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0" name="Text 37"/>
          <p:cNvSpPr/>
          <p:nvPr/>
        </p:nvSpPr>
        <p:spPr>
          <a:xfrm>
            <a:off x="8494920" y="4809600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confirmed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1" name="Text 38"/>
          <p:cNvSpPr/>
          <p:nvPr/>
        </p:nvSpPr>
        <p:spPr>
          <a:xfrm>
            <a:off x="9427320" y="4827960"/>
            <a:ext cx="1901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모델이 보고 있는 가설적 사용자상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sldNum" idx="12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662015-4E58-46C6-8534-9529107708B1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8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구현 상태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WHAT IS ALREADY BUILT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749880" y="1417320"/>
            <a:ext cx="6400080" cy="452556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960120" y="1673280"/>
            <a:ext cx="2925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개념 구현이 실제 코드로 내려온 부분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969120" y="2057400"/>
            <a:ext cx="566856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일반 채팅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ZIP artifact / project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질문 경로 분리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TopicRouter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기반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active topic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유지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attach / create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EvidenceNormalizationService + MemoryIngressService + MemoryApplyService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general / candidate / confirmed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분기와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promotion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구조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Correction target kind(profile / topic_fact / response_behavior)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분류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semantic retrieval, response continuation, project chunk retrieval 1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차 반영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7406640" y="1417320"/>
            <a:ext cx="4022640" cy="2029320"/>
          </a:xfrm>
          <a:prstGeom prst="roundRect">
            <a:avLst>
              <a:gd name="adj" fmla="val 3604"/>
            </a:avLst>
          </a:prstGeom>
          <a:solidFill>
            <a:srgbClr val="F3F8FF"/>
          </a:solidFill>
          <a:ln w="12700">
            <a:solidFill>
              <a:srgbClr val="D4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7662600" y="1664280"/>
            <a:ext cx="1188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사용 기술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7644240" y="2011680"/>
            <a:ext cx="33368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Python / FastAPI / SQLite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Ollama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sentence-transformers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NumPy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로컬 실행 중심 구조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7406640" y="3675960"/>
            <a:ext cx="4022640" cy="2266920"/>
          </a:xfrm>
          <a:prstGeom prst="roundRect">
            <a:avLst>
              <a:gd name="adj" fmla="val 3226"/>
            </a:avLst>
          </a:prstGeom>
          <a:solidFill>
            <a:srgbClr val="FFF9F0"/>
          </a:solidFill>
          <a:ln w="12700">
            <a:solidFill>
              <a:srgbClr val="F6D7A8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7662600" y="3913560"/>
            <a:ext cx="1508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단계 판단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7653600" y="4297680"/>
            <a:ext cx="338256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개념적 구현은 상당 부분 완료</a:t>
            </a:r>
            <a:r>
              <a:rPr lang="en-US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지금부터는 “구조를 더 만드는 단계”보다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“일반 채팅 품질과 재사용 품질을 끌어올리는 단계”에 가깝다</a:t>
            </a:r>
            <a:r>
              <a:rPr lang="en-US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sldNum" idx="13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D07407-491D-44DB-835A-D77F40B2B396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9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172"/>
          <p:cNvSpPr/>
          <p:nvPr/>
        </p:nvSpPr>
        <p:spPr>
          <a:xfrm>
            <a:off x="502920" y="34740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A2E4F"/>
                </a:solidFill>
                <a:effectLst/>
                <a:uFillTx/>
                <a:latin typeface="Malgun Gothic"/>
                <a:ea typeface="Malgun Gothic"/>
              </a:rPr>
              <a:t>폴더 구조 설계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7" name="Text 173"/>
          <p:cNvSpPr/>
          <p:nvPr/>
        </p:nvSpPr>
        <p:spPr>
          <a:xfrm>
            <a:off x="511920" y="676800"/>
            <a:ext cx="4571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FOLDER STRUCTURE AS RESPONSIBILITY BOUNDARIES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8" name="Shape 108"/>
          <p:cNvSpPr/>
          <p:nvPr/>
        </p:nvSpPr>
        <p:spPr>
          <a:xfrm>
            <a:off x="658440" y="1298520"/>
            <a:ext cx="3584160" cy="440712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9" name="Text 174"/>
          <p:cNvSpPr/>
          <p:nvPr/>
        </p:nvSpPr>
        <p:spPr>
          <a:xfrm>
            <a:off x="868680" y="14904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D74C4C"/>
                </a:solidFill>
                <a:effectLst/>
                <a:uFillTx/>
                <a:latin typeface="Malgun Gothic"/>
                <a:ea typeface="Malgun Gothic"/>
              </a:rPr>
              <a:t>설계 의도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0" name="Text 175"/>
          <p:cNvSpPr/>
          <p:nvPr/>
        </p:nvSpPr>
        <p:spPr>
          <a:xfrm>
            <a:off x="868680" y="178308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입력 채널은 분리하되</a:t>
            </a:r>
            <a:r>
              <a:rPr lang="en-US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기억 의미론은 공통 계층으로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수렴하도록 폴더 책임을 나눴다</a:t>
            </a:r>
            <a:r>
              <a:rPr lang="en-US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1" name="Text 176"/>
          <p:cNvSpPr/>
          <p:nvPr/>
        </p:nvSpPr>
        <p:spPr>
          <a:xfrm>
            <a:off x="896040" y="2834640"/>
            <a:ext cx="292572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• app/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는 요청 분기와 </a:t>
            </a: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API 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진입점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• memory/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는 공통 의미론과 저장</a:t>
            </a: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승격</a:t>
            </a: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재구성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• profile_analysis/·project_analysis/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는 채널별 </a:t>
            </a: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ingress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• prompts/·tools/·tests/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는 운영 계약과 검증을 담당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2" name="Shape 109"/>
          <p:cNvSpPr/>
          <p:nvPr/>
        </p:nvSpPr>
        <p:spPr>
          <a:xfrm>
            <a:off x="4526280" y="1389960"/>
            <a:ext cx="1992960" cy="1215720"/>
          </a:xfrm>
          <a:prstGeom prst="roundRect">
            <a:avLst>
              <a:gd name="adj" fmla="val 4511"/>
            </a:avLst>
          </a:prstGeom>
          <a:solidFill>
            <a:srgbClr val="F5F9FF"/>
          </a:solidFill>
          <a:ln w="12700">
            <a:solidFill>
              <a:srgbClr val="CFE0F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3" name="Text 177"/>
          <p:cNvSpPr/>
          <p:nvPr/>
        </p:nvSpPr>
        <p:spPr>
          <a:xfrm>
            <a:off x="4690800" y="154548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app/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4" name="Text 178"/>
          <p:cNvSpPr/>
          <p:nvPr/>
        </p:nvSpPr>
        <p:spPr>
          <a:xfrm>
            <a:off x="4690800" y="1774080"/>
            <a:ext cx="1663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요청 입구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5" name="Text 179"/>
          <p:cNvSpPr/>
          <p:nvPr/>
        </p:nvSpPr>
        <p:spPr>
          <a:xfrm>
            <a:off x="4690800" y="199332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api.py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request_orchestrator.py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orchestrator.py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6" name="Shape 110"/>
          <p:cNvSpPr/>
          <p:nvPr/>
        </p:nvSpPr>
        <p:spPr>
          <a:xfrm>
            <a:off x="6656760" y="1389960"/>
            <a:ext cx="1992960" cy="1215720"/>
          </a:xfrm>
          <a:prstGeom prst="roundRect">
            <a:avLst>
              <a:gd name="adj" fmla="val 4511"/>
            </a:avLst>
          </a:prstGeom>
          <a:solidFill>
            <a:srgbClr val="F7FBF8"/>
          </a:solidFill>
          <a:ln w="12700">
            <a:solidFill>
              <a:srgbClr val="CCE6D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7" name="Text 180"/>
          <p:cNvSpPr/>
          <p:nvPr/>
        </p:nvSpPr>
        <p:spPr>
          <a:xfrm>
            <a:off x="6821280" y="154548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memory/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8" name="Text 181"/>
          <p:cNvSpPr/>
          <p:nvPr/>
        </p:nvSpPr>
        <p:spPr>
          <a:xfrm>
            <a:off x="6821280" y="1774080"/>
            <a:ext cx="1663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공통 기억 계층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9" name="Text 182"/>
          <p:cNvSpPr/>
          <p:nvPr/>
        </p:nvSpPr>
        <p:spPr>
          <a:xfrm>
            <a:off x="6821280" y="199332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services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retrieval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stores / policies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0" name="Shape 111"/>
          <p:cNvSpPr/>
          <p:nvPr/>
        </p:nvSpPr>
        <p:spPr>
          <a:xfrm>
            <a:off x="8787240" y="1389960"/>
            <a:ext cx="2724480" cy="1215720"/>
          </a:xfrm>
          <a:prstGeom prst="roundRect">
            <a:avLst>
              <a:gd name="adj" fmla="val 4511"/>
            </a:avLst>
          </a:prstGeom>
          <a:solidFill>
            <a:srgbClr val="FCF8FF"/>
          </a:solidFill>
          <a:ln w="12700">
            <a:solidFill>
              <a:srgbClr val="E2D8F4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1" name="Text 183"/>
          <p:cNvSpPr/>
          <p:nvPr/>
        </p:nvSpPr>
        <p:spPr>
          <a:xfrm>
            <a:off x="8952120" y="1545480"/>
            <a:ext cx="2395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profile_analysis/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2" name="Text 184"/>
          <p:cNvSpPr/>
          <p:nvPr/>
        </p:nvSpPr>
        <p:spPr>
          <a:xfrm>
            <a:off x="8952120" y="1774080"/>
            <a:ext cx="2395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텍스트 첨부 분석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3" name="Text 185"/>
          <p:cNvSpPr/>
          <p:nvPr/>
        </p:nvSpPr>
        <p:spPr>
          <a:xfrm>
            <a:off x="8952120" y="199332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source </a:t>
            </a:r>
            <a:r>
              <a:rPr lang="ko-KR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저장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passage selection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evidence sync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4" name="Shape 112"/>
          <p:cNvSpPr/>
          <p:nvPr/>
        </p:nvSpPr>
        <p:spPr>
          <a:xfrm>
            <a:off x="4526280" y="2834640"/>
            <a:ext cx="1992960" cy="1215720"/>
          </a:xfrm>
          <a:prstGeom prst="roundRect">
            <a:avLst>
              <a:gd name="adj" fmla="val 4511"/>
            </a:avLst>
          </a:prstGeom>
          <a:solidFill>
            <a:srgbClr val="FFF8F5"/>
          </a:solidFill>
          <a:ln w="12700">
            <a:solidFill>
              <a:srgbClr val="F0D8CC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5" name="Text 186"/>
          <p:cNvSpPr/>
          <p:nvPr/>
        </p:nvSpPr>
        <p:spPr>
          <a:xfrm>
            <a:off x="4690800" y="299016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project_analysis/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6" name="Text 187"/>
          <p:cNvSpPr/>
          <p:nvPr/>
        </p:nvSpPr>
        <p:spPr>
          <a:xfrm>
            <a:off x="4690800" y="3218760"/>
            <a:ext cx="1663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ZIP / project </a:t>
            </a: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질문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7" name="Text 188"/>
          <p:cNvSpPr/>
          <p:nvPr/>
        </p:nvSpPr>
        <p:spPr>
          <a:xfrm>
            <a:off x="4690800" y="343800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ingest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retrieval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services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8" name="Shape 113"/>
          <p:cNvSpPr/>
          <p:nvPr/>
        </p:nvSpPr>
        <p:spPr>
          <a:xfrm>
            <a:off x="6656760" y="2834640"/>
            <a:ext cx="1992960" cy="1215720"/>
          </a:xfrm>
          <a:prstGeom prst="roundRect">
            <a:avLst>
              <a:gd name="adj" fmla="val 4511"/>
            </a:avLst>
          </a:prstGeom>
          <a:solidFill>
            <a:srgbClr val="F8FAFD"/>
          </a:solidFill>
          <a:ln w="12700">
            <a:solidFill>
              <a:srgbClr val="D9E1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9" name="Text 189"/>
          <p:cNvSpPr/>
          <p:nvPr/>
        </p:nvSpPr>
        <p:spPr>
          <a:xfrm>
            <a:off x="6821280" y="299016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prompts/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0" name="Text 190"/>
          <p:cNvSpPr/>
          <p:nvPr/>
        </p:nvSpPr>
        <p:spPr>
          <a:xfrm>
            <a:off x="6821280" y="3218760"/>
            <a:ext cx="1663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짧은 계약 중심 프롬프트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1" name="Text 191"/>
          <p:cNvSpPr/>
          <p:nvPr/>
        </p:nvSpPr>
        <p:spPr>
          <a:xfrm>
            <a:off x="6821280" y="343800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system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extract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project / review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2" name="Shape 114"/>
          <p:cNvSpPr/>
          <p:nvPr/>
        </p:nvSpPr>
        <p:spPr>
          <a:xfrm>
            <a:off x="8787240" y="2834640"/>
            <a:ext cx="2724480" cy="1215720"/>
          </a:xfrm>
          <a:prstGeom prst="roundRect">
            <a:avLst>
              <a:gd name="adj" fmla="val 4511"/>
            </a:avLst>
          </a:prstGeom>
          <a:solidFill>
            <a:srgbClr val="F8FAFD"/>
          </a:solidFill>
          <a:ln w="12700">
            <a:solidFill>
              <a:srgbClr val="D9E1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3" name="Text 192"/>
          <p:cNvSpPr/>
          <p:nvPr/>
        </p:nvSpPr>
        <p:spPr>
          <a:xfrm>
            <a:off x="8952120" y="2990160"/>
            <a:ext cx="2395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tools · tests · data/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4" name="Text 193"/>
          <p:cNvSpPr/>
          <p:nvPr/>
        </p:nvSpPr>
        <p:spPr>
          <a:xfrm>
            <a:off x="8952120" y="3218760"/>
            <a:ext cx="2395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운영 보조와 검증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5" name="Text 194"/>
          <p:cNvSpPr/>
          <p:nvPr/>
        </p:nvSpPr>
        <p:spPr>
          <a:xfrm>
            <a:off x="8952120" y="343800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Ollama / embedding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회귀 테스트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로컬 </a:t>
            </a: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DB</a:t>
            </a:r>
            <a:r>
              <a:rPr lang="ko-KR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와 </a:t>
            </a: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artifact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6" name="Shape 115"/>
          <p:cNvSpPr/>
          <p:nvPr/>
        </p:nvSpPr>
        <p:spPr>
          <a:xfrm>
            <a:off x="4526280" y="4316040"/>
            <a:ext cx="6985800" cy="1389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7" name="Text 195"/>
          <p:cNvSpPr/>
          <p:nvPr/>
        </p:nvSpPr>
        <p:spPr>
          <a:xfrm>
            <a:off x="4736520" y="450792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3F74C4"/>
                </a:solidFill>
                <a:effectLst/>
                <a:uFillTx/>
                <a:latin typeface="Malgun Gothic"/>
                <a:ea typeface="Malgun Gothic"/>
              </a:rPr>
              <a:t>핵심 정리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8" name="Text 196"/>
          <p:cNvSpPr/>
          <p:nvPr/>
        </p:nvSpPr>
        <p:spPr>
          <a:xfrm>
            <a:off x="4736520" y="4773240"/>
            <a:ext cx="6400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채널별 폴더는 입력 특화 책임을 갖고</a:t>
            </a:r>
            <a:r>
              <a:rPr lang="en-US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, memory/</a:t>
            </a:r>
            <a:r>
              <a:rPr lang="ko-KR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는 </a:t>
            </a:r>
            <a:r>
              <a:rPr lang="en-US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general → candidate → confirmed</a:t>
            </a:r>
            <a:r>
              <a:rPr lang="ko-KR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라는 공통 의미론을 유지한다</a:t>
            </a:r>
            <a:r>
              <a:rPr lang="en-US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즉 폴더 구조 자체가 “채널은 달라도 기억 구조는 하나”라는 프로젝트 철학을 코드 책임으로 나눈 형태다</a:t>
            </a:r>
            <a:r>
              <a:rPr lang="en-US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9" name="Shape 116"/>
          <p:cNvSpPr/>
          <p:nvPr/>
        </p:nvSpPr>
        <p:spPr>
          <a:xfrm>
            <a:off x="658440" y="6053400"/>
            <a:ext cx="10862640" cy="310680"/>
          </a:xfrm>
          <a:prstGeom prst="roundRect">
            <a:avLst>
              <a:gd name="adj" fmla="val 11765"/>
            </a:avLst>
          </a:prstGeom>
          <a:solidFill>
            <a:srgbClr val="163E74"/>
          </a:solidFill>
          <a:ln w="12700">
            <a:solidFill>
              <a:srgbClr val="163E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0" name="Text 197"/>
          <p:cNvSpPr/>
          <p:nvPr/>
        </p:nvSpPr>
        <p:spPr>
          <a:xfrm>
            <a:off x="914400" y="6126480"/>
            <a:ext cx="102866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MK4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의 폴더 구조는 기능 나열이 아니라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입력 채널 분리와 공통 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memory 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의미론을 동시에 보존하기 위한 책임 경계다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sldNum" idx="14"/>
          </p:nvPr>
        </p:nvSpPr>
        <p:spPr>
          <a:xfrm>
            <a:off x="11521440" y="6492240"/>
            <a:ext cx="27396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50" b="0" u="none" strike="noStrike">
                <a:solidFill>
                  <a:srgbClr val="A0A8B7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CF61BC-7ABD-4C79-800F-DDE12A3E7DB1}" type="slidenum">
              <a:rPr lang="en-US" sz="650" b="0" u="none" strike="noStrike">
                <a:solidFill>
                  <a:srgbClr val="A0A8B7"/>
                </a:solidFill>
                <a:effectLst/>
                <a:uFillTx/>
                <a:latin typeface="Malgun Gothic"/>
                <a:ea typeface="Malgun Gothic"/>
              </a:rPr>
              <a:t>9</a:t>
            </a:fld>
            <a:endParaRPr lang="en-US" sz="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2"/>
          <p:cNvSpPr/>
          <p:nvPr/>
        </p:nvSpPr>
        <p:spPr>
          <a:xfrm>
            <a:off x="502920" y="34740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2E4F"/>
                </a:solidFill>
                <a:effectLst/>
                <a:uFillTx/>
                <a:latin typeface="Malgun Gothic"/>
                <a:ea typeface="Malgun Gothic"/>
              </a:rPr>
              <a:t>Orchestration </a:t>
            </a:r>
            <a:r>
              <a:rPr lang="ko-KR" sz="2400" b="1" u="none" strike="noStrike">
                <a:solidFill>
                  <a:srgbClr val="1A2E4F"/>
                </a:solidFill>
                <a:effectLst/>
                <a:uFillTx/>
                <a:latin typeface="Malgun Gothic"/>
                <a:ea typeface="Malgun Gothic"/>
              </a:rPr>
              <a:t>패턴 정의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3" name="Text 198"/>
          <p:cNvSpPr/>
          <p:nvPr/>
        </p:nvSpPr>
        <p:spPr>
          <a:xfrm>
            <a:off x="511920" y="676800"/>
            <a:ext cx="4571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REQUEST SPLIT → SHARED MEMORY SEMANTICS → NEXT-TURN REUSE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4" name="Shape 117"/>
          <p:cNvSpPr/>
          <p:nvPr/>
        </p:nvSpPr>
        <p:spPr>
          <a:xfrm>
            <a:off x="658440" y="1298520"/>
            <a:ext cx="10972440" cy="223092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5" name="Text 199"/>
          <p:cNvSpPr/>
          <p:nvPr/>
        </p:nvSpPr>
        <p:spPr>
          <a:xfrm>
            <a:off x="868680" y="14904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D74C4C"/>
                </a:solidFill>
                <a:effectLst/>
                <a:uFillTx/>
                <a:latin typeface="Malgun Gothic"/>
                <a:ea typeface="Malgun Gothic"/>
              </a:rPr>
              <a:t>패턴 개요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6" name="Shape 118"/>
          <p:cNvSpPr/>
          <p:nvPr/>
        </p:nvSpPr>
        <p:spPr>
          <a:xfrm>
            <a:off x="89604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FF6F3"/>
          </a:solidFill>
          <a:ln w="12700">
            <a:solidFill>
              <a:srgbClr val="F0D6CC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7" name="Text 200"/>
          <p:cNvSpPr/>
          <p:nvPr/>
        </p:nvSpPr>
        <p:spPr>
          <a:xfrm>
            <a:off x="100584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1. </a:t>
            </a:r>
            <a:r>
              <a:rPr lang="ko-KR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입력 채널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8" name="Text 201"/>
          <p:cNvSpPr/>
          <p:nvPr/>
        </p:nvSpPr>
        <p:spPr>
          <a:xfrm>
            <a:off x="100584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chat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attachment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ZIP / project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correction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9" name="Text 202"/>
          <p:cNvSpPr/>
          <p:nvPr/>
        </p:nvSpPr>
        <p:spPr>
          <a:xfrm>
            <a:off x="2715840" y="2231280"/>
            <a:ext cx="16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E74"/>
                </a:solidFill>
                <a:effectLst/>
                <a:uFillTx/>
                <a:latin typeface="Malgun Gothic"/>
                <a:ea typeface="Malgun Gothic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0" name="Shape 119"/>
          <p:cNvSpPr/>
          <p:nvPr/>
        </p:nvSpPr>
        <p:spPr>
          <a:xfrm>
            <a:off x="290772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5F9FF"/>
          </a:solidFill>
          <a:ln w="12700">
            <a:solidFill>
              <a:srgbClr val="CFE0F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1" name="Text 203"/>
          <p:cNvSpPr/>
          <p:nvPr/>
        </p:nvSpPr>
        <p:spPr>
          <a:xfrm>
            <a:off x="301752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2. request split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2" name="Text 204"/>
          <p:cNvSpPr/>
          <p:nvPr/>
        </p:nvSpPr>
        <p:spPr>
          <a:xfrm>
            <a:off x="301752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request_orchestrator</a:t>
            </a:r>
            <a:r>
              <a:rPr lang="ko-KR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가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질문 유형과 파일 종류를 분기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3" name="Text 205"/>
          <p:cNvSpPr/>
          <p:nvPr/>
        </p:nvSpPr>
        <p:spPr>
          <a:xfrm>
            <a:off x="4727520" y="2231280"/>
            <a:ext cx="16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E74"/>
                </a:solidFill>
                <a:effectLst/>
                <a:uFillTx/>
                <a:latin typeface="Malgun Gothic"/>
                <a:ea typeface="Malgun Gothic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4" name="Shape 120"/>
          <p:cNvSpPr/>
          <p:nvPr/>
        </p:nvSpPr>
        <p:spPr>
          <a:xfrm>
            <a:off x="502920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6FBF7"/>
          </a:solidFill>
          <a:ln w="12700">
            <a:solidFill>
              <a:srgbClr val="CCE6D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5" name="Text 206"/>
          <p:cNvSpPr/>
          <p:nvPr/>
        </p:nvSpPr>
        <p:spPr>
          <a:xfrm>
            <a:off x="513900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3. </a:t>
            </a:r>
            <a:r>
              <a:rPr lang="ko-KR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공통 </a:t>
            </a: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memory ingress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6" name="Text 207"/>
          <p:cNvSpPr/>
          <p:nvPr/>
        </p:nvSpPr>
        <p:spPr>
          <a:xfrm>
            <a:off x="513900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extract → normalize →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topic resolve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7" name="Text 208"/>
          <p:cNvSpPr/>
          <p:nvPr/>
        </p:nvSpPr>
        <p:spPr>
          <a:xfrm>
            <a:off x="6849000" y="2231280"/>
            <a:ext cx="16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E74"/>
                </a:solidFill>
                <a:effectLst/>
                <a:uFillTx/>
                <a:latin typeface="Malgun Gothic"/>
                <a:ea typeface="Malgun Gothic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8" name="Shape 121"/>
          <p:cNvSpPr/>
          <p:nvPr/>
        </p:nvSpPr>
        <p:spPr>
          <a:xfrm>
            <a:off x="717804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CF8FF"/>
          </a:solidFill>
          <a:ln w="12700">
            <a:solidFill>
              <a:srgbClr val="E2D8F4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9" name="Text 209"/>
          <p:cNvSpPr/>
          <p:nvPr/>
        </p:nvSpPr>
        <p:spPr>
          <a:xfrm>
            <a:off x="728784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4. path-specific work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0" name="Text 210"/>
          <p:cNvSpPr/>
          <p:nvPr/>
        </p:nvSpPr>
        <p:spPr>
          <a:xfrm>
            <a:off x="728784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chat reply / attachment ingest /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project ask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1" name="Text 211"/>
          <p:cNvSpPr/>
          <p:nvPr/>
        </p:nvSpPr>
        <p:spPr>
          <a:xfrm>
            <a:off x="8997840" y="2231280"/>
            <a:ext cx="16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E74"/>
                </a:solidFill>
                <a:effectLst/>
                <a:uFillTx/>
                <a:latin typeface="Malgun Gothic"/>
                <a:ea typeface="Malgun Gothic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2" name="Shape 122"/>
          <p:cNvSpPr/>
          <p:nvPr/>
        </p:nvSpPr>
        <p:spPr>
          <a:xfrm>
            <a:off x="928116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8FAFD"/>
          </a:solidFill>
          <a:ln w="12700">
            <a:solidFill>
              <a:srgbClr val="D9E1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3" name="Text 212"/>
          <p:cNvSpPr/>
          <p:nvPr/>
        </p:nvSpPr>
        <p:spPr>
          <a:xfrm>
            <a:off x="939096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5. apply &amp; reuse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4" name="Text 213"/>
          <p:cNvSpPr/>
          <p:nvPr/>
        </p:nvSpPr>
        <p:spPr>
          <a:xfrm>
            <a:off x="939096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apply · promotion · rebuild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→ next-turn retrieval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5" name="Shape 123"/>
          <p:cNvSpPr/>
          <p:nvPr/>
        </p:nvSpPr>
        <p:spPr>
          <a:xfrm>
            <a:off x="658440" y="3822120"/>
            <a:ext cx="2514240" cy="157248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6" name="Text 214"/>
          <p:cNvSpPr/>
          <p:nvPr/>
        </p:nvSpPr>
        <p:spPr>
          <a:xfrm>
            <a:off x="813960" y="39686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3F74C4"/>
                </a:solidFill>
                <a:effectLst/>
                <a:uFillTx/>
                <a:latin typeface="Malgun Gothic"/>
                <a:ea typeface="Malgun Gothic"/>
              </a:rPr>
              <a:t>원칙 </a:t>
            </a:r>
            <a:r>
              <a:rPr lang="en-US" sz="850" b="1" u="none" strike="noStrike">
                <a:solidFill>
                  <a:srgbClr val="3F74C4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7" name="Text 215"/>
          <p:cNvSpPr/>
          <p:nvPr/>
        </p:nvSpPr>
        <p:spPr>
          <a:xfrm>
            <a:off x="813960" y="4242960"/>
            <a:ext cx="2203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채널 분리</a:t>
            </a:r>
            <a:r>
              <a:rPr lang="en-US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의미론 공통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8" name="Text 216"/>
          <p:cNvSpPr/>
          <p:nvPr/>
        </p:nvSpPr>
        <p:spPr>
          <a:xfrm>
            <a:off x="813960" y="4553640"/>
            <a:ext cx="22032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입력 채널은 서로 다른 서비스를 타더라도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, evidence / topic / tier 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구조는 가능한 한 같은 기준으로 합류한다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9" name="Shape 124"/>
          <p:cNvSpPr/>
          <p:nvPr/>
        </p:nvSpPr>
        <p:spPr>
          <a:xfrm>
            <a:off x="3328560" y="3822120"/>
            <a:ext cx="2514240" cy="1572480"/>
          </a:xfrm>
          <a:prstGeom prst="roundRect">
            <a:avLst>
              <a:gd name="adj" fmla="val 3488"/>
            </a:avLst>
          </a:prstGeom>
          <a:solidFill>
            <a:srgbClr val="F8FCF9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0" name="Text 217"/>
          <p:cNvSpPr/>
          <p:nvPr/>
        </p:nvSpPr>
        <p:spPr>
          <a:xfrm>
            <a:off x="3483720" y="39686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167A52"/>
                </a:solidFill>
                <a:effectLst/>
                <a:uFillTx/>
                <a:latin typeface="Malgun Gothic"/>
                <a:ea typeface="Malgun Gothic"/>
              </a:rPr>
              <a:t>원칙 </a:t>
            </a:r>
            <a:r>
              <a:rPr lang="en-US" sz="850" b="1" u="none" strike="noStrike">
                <a:solidFill>
                  <a:srgbClr val="167A52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1" name="Text 218"/>
          <p:cNvSpPr/>
          <p:nvPr/>
        </p:nvSpPr>
        <p:spPr>
          <a:xfrm>
            <a:off x="3483720" y="4242960"/>
            <a:ext cx="2203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update-first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2" name="Text 219"/>
          <p:cNvSpPr/>
          <p:nvPr/>
        </p:nvSpPr>
        <p:spPr>
          <a:xfrm>
            <a:off x="3483720" y="4553640"/>
            <a:ext cx="22032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첨부와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project 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경로는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preview-first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가 아니라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실제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memory update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와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sync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를 먼저 수행한 뒤 답변을 만든다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3" name="Shape 125"/>
          <p:cNvSpPr/>
          <p:nvPr/>
        </p:nvSpPr>
        <p:spPr>
          <a:xfrm>
            <a:off x="5998320" y="3822120"/>
            <a:ext cx="2514240" cy="1572480"/>
          </a:xfrm>
          <a:prstGeom prst="roundRect">
            <a:avLst>
              <a:gd name="adj" fmla="val 3488"/>
            </a:avLst>
          </a:prstGeom>
          <a:solidFill>
            <a:srgbClr val="FBF9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4" name="Text 220"/>
          <p:cNvSpPr/>
          <p:nvPr/>
        </p:nvSpPr>
        <p:spPr>
          <a:xfrm>
            <a:off x="6153840" y="39686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8153D5"/>
                </a:solidFill>
                <a:effectLst/>
                <a:uFillTx/>
                <a:latin typeface="Malgun Gothic"/>
                <a:ea typeface="Malgun Gothic"/>
              </a:rPr>
              <a:t>원칙 </a:t>
            </a:r>
            <a:r>
              <a:rPr lang="en-US" sz="850" b="1" u="none" strike="noStrike">
                <a:solidFill>
                  <a:srgbClr val="8153D5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5" name="Text 221"/>
          <p:cNvSpPr/>
          <p:nvPr/>
        </p:nvSpPr>
        <p:spPr>
          <a:xfrm>
            <a:off x="6153840" y="4242960"/>
            <a:ext cx="2203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보조 레이어는 본체를 우회하지 않음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6" name="Text 222"/>
          <p:cNvSpPr/>
          <p:nvPr/>
        </p:nvSpPr>
        <p:spPr>
          <a:xfrm>
            <a:off x="6153840" y="4553640"/>
            <a:ext cx="22032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tool, guard, helper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는 필요할 때만 개입하고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, no-op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이면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ResponseRunner 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계약을 그대로 통과시킨다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7" name="Shape 126"/>
          <p:cNvSpPr/>
          <p:nvPr/>
        </p:nvSpPr>
        <p:spPr>
          <a:xfrm>
            <a:off x="8668440" y="3822120"/>
            <a:ext cx="2962440" cy="1572480"/>
          </a:xfrm>
          <a:prstGeom prst="roundRect">
            <a:avLst>
              <a:gd name="adj" fmla="val 3488"/>
            </a:avLst>
          </a:prstGeom>
          <a:solidFill>
            <a:srgbClr val="FFFBF8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8" name="Text 223"/>
          <p:cNvSpPr/>
          <p:nvPr/>
        </p:nvSpPr>
        <p:spPr>
          <a:xfrm>
            <a:off x="8823960" y="39686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D74C4C"/>
                </a:solidFill>
                <a:effectLst/>
                <a:uFillTx/>
                <a:latin typeface="Malgun Gothic"/>
                <a:ea typeface="Malgun Gothic"/>
              </a:rPr>
              <a:t>원칙 </a:t>
            </a:r>
            <a:r>
              <a:rPr lang="en-US" sz="850" b="1" u="none" strike="noStrike">
                <a:solidFill>
                  <a:srgbClr val="D74C4C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9" name="Text 224"/>
          <p:cNvSpPr/>
          <p:nvPr/>
        </p:nvSpPr>
        <p:spPr>
          <a:xfrm>
            <a:off x="8823960" y="4242960"/>
            <a:ext cx="2651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오류는 숨기지 않음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0" name="Text 225"/>
          <p:cNvSpPr/>
          <p:nvPr/>
        </p:nvSpPr>
        <p:spPr>
          <a:xfrm>
            <a:off x="8823960" y="4553640"/>
            <a:ext cx="2651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파싱 실패나 모델 실패를 임시 하드코딩으로 덮지 않는다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 MK4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의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orchestration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은 정직한 실패를 허용한다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1" name="Shape 127"/>
          <p:cNvSpPr/>
          <p:nvPr/>
        </p:nvSpPr>
        <p:spPr>
          <a:xfrm>
            <a:off x="658440" y="6053400"/>
            <a:ext cx="10862640" cy="310680"/>
          </a:xfrm>
          <a:prstGeom prst="roundRect">
            <a:avLst>
              <a:gd name="adj" fmla="val 11765"/>
            </a:avLst>
          </a:prstGeom>
          <a:solidFill>
            <a:srgbClr val="163E74"/>
          </a:solidFill>
          <a:ln w="12700">
            <a:solidFill>
              <a:srgbClr val="163E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12" name="Text 226"/>
          <p:cNvSpPr/>
          <p:nvPr/>
        </p:nvSpPr>
        <p:spPr>
          <a:xfrm>
            <a:off x="914400" y="6126480"/>
            <a:ext cx="102866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MK4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의 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orchestration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은 “각 경로가 제각각 답한다”가 아니라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, request 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분기 이후 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shared memory semantics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로 다시 모이는 구조로 정의된다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sldNum" idx="15"/>
          </p:nvPr>
        </p:nvSpPr>
        <p:spPr>
          <a:xfrm>
            <a:off x="11521440" y="6492240"/>
            <a:ext cx="27396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50" b="0" u="none" strike="noStrike">
                <a:solidFill>
                  <a:srgbClr val="A0A8B7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3C986-6DAC-49CA-9999-B45C466F3E91}" type="slidenum">
              <a:rPr lang="en-US" sz="650" b="0" u="none" strike="noStrike">
                <a:solidFill>
                  <a:srgbClr val="A0A8B7"/>
                </a:solidFill>
                <a:effectLst/>
                <a:uFillTx/>
                <a:latin typeface="Malgun Gothic"/>
                <a:ea typeface="Malgun Gothic"/>
              </a:rPr>
              <a:t>9</a:t>
            </a:fld>
            <a:endParaRPr lang="en-US" sz="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28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5" name="Text 31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6" name="Shape 21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7" name="Shape 25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8" name="Text 35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입력 채널별로 기억 의미론이 갈라지던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9" name="Text 39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0" name="Shape 29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1" name="Text 41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일반 채팅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프로젝트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artifact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서로 다른 시스템처럼 취급되는 경향이 있어 아예 다른 브랜치처럼 분리되기 쉬웠다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2" name="Text 43"/>
          <p:cNvSpPr/>
          <p:nvPr/>
        </p:nvSpPr>
        <p:spPr>
          <a:xfrm>
            <a:off x="960120" y="3200400"/>
            <a:ext cx="244980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채팅은 임시 업데이트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첨부 텍스트는 별도 </a:t>
            </a: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preview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프로젝트 </a:t>
            </a: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ZIP</a:t>
            </a:r>
            <a:r>
              <a:rPr lang="ko-KR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은 </a:t>
            </a: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project </a:t>
            </a:r>
            <a:r>
              <a:rPr lang="ko-KR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분석 전용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3" name="Text 44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4" name="Shape 30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5" name="Text 45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같은 의미가 채팅에서는 버려지고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첨부에서는 후보가 되고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프로젝트에서는 다른 규칙으로 저장되는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6" name="Text 47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7" name="Shape 34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8" name="Text 48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채널은 달라도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기억으로 들어갈 때는 공통 의미론으로 수렴시켜야 한다는 방향으로 바꿨다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핵심 원칙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9" name="Text 49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채널은 다를 수 있다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하지만 기억의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의미는 최대한 같아야 한다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general / candidate / confirmed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의 해석은 전 채널에서 일관되어야 한다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0" name="Text 50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1" name="Shape 38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2" name="Text 51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 분리는 기술적 편의일 뿐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의미론 분리의 근거가 될 수 없다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3" name="Shape 40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34" name="Text 52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입력 채널 분리는 기술적 편의일 뿐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의미론 분리의 근거가 될 수 없다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sldNum" idx="16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04A775-6326-45F5-850D-52932E9B9E9E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12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53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7" name="Text 54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8" name="Shape 4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9" name="Shape 46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0" name="Text 55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preview-first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실제 업데이트를 가로막던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1" name="Text 56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2" name="Shape 47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3" name="Text 57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텍스트를 이용한 프로필 형성 요청이 한동안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분석해주는 응답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만 만들고 실제 기억에는 거의 반영되지 않는 구조로 흘렀다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4" name="Text 58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5" name="Shape 48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6" name="Text 59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지금은 잘 말하는 것처럼 보임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하지만 다음 대화에서는 그 결과가 남지 않음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결국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이해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아니라 일회성 해석문 생성에 머무름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7" name="Text 60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8" name="Shape 49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9" name="Text 61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preview-first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에서 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update-first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로 전환했다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핵심 흐름은 다음과 같이 재정렬되었다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0" name="Text 62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source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저장하고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relevant passage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고르고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evidence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추출하고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1" name="Text 63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2" name="Shape 50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3" name="Text 64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에서 첨부 기반 프로필 요청은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설명 서비스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아니라 실제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 update 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이벤트여야 한다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4" name="Shape 51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5" name="Text 65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에서 첨부 기반 프로필 요청은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설명 서비스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가 아니라 실제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memory update 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이벤트여야 한다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sldNum" idx="17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17B877-4940-4235-B707-622D5ECD083E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13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66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08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8" name="Text 67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9" name="Shape 5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0" name="Shape 53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저장된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너무 쉽게 믿던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2" name="Text 69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3" name="Shape 54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4" name="Text 70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한동안 저장된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를 거의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참인 정보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처럼 바로 주입하면서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예전 오염이나 잘못된 해석이 현재 응답을 덮어쓰는 일이 생겼다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5" name="Text 71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6" name="Shape 55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7" name="Text 72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오래된 잘못된 응답 스타일이 계속 재주입됨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correction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보다 과거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 더 강하게 작동함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system prompt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냄새가 나는 긴 문장이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인 척 들어감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8" name="Text 73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9" name="Shape 56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0" name="Text 74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기억을 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신뢰 가능한 사실 저장소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아니라 검증과 필터링이 필요한 가설 저장소로 취급하도록 바꿨다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원칙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1" name="Text 75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저장된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도 검증 대상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correction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 있으면 이전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보다 우선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주입 전 최소한의 위생 필터 필요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2" name="Text 76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3" name="Shape 57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4" name="Text 77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기억을 무조건 믿는 순간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MK4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는 학습 시스템이 아니라 과거 오류의 증폭기가 된다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5" name="Shape 58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76" name="Text 78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기억을 무조건 믿는 순간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MK4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학습 시스템이 아니라 과거 오류의 증폭기가 된다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sldNum" idx="18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039DC3-D123-4AE7-80A0-B41B5CE6DF33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14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79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09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9" name="Text 80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0" name="Shape 59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1" name="Shape 60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2" name="Text 81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topic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구조가 약해서 대화 의미 축이 흔들리던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3" name="Text 82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4" name="Shape 61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5" name="Text 83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초기에는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 단순 문자열 라벨처럼 취급되거나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general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로 뭉개지는 경우가 많았다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6" name="Text 84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7" name="Shape 62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8" name="Text 85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서로 다른 의미 축이 같은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bucket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 쌓임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correction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 어느 범위에 적용되는지 모호해짐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active topic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유지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전환 판단이 불명확해짐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 정보가 무엇에 대한 기억인가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흐려짐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9" name="Text 86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0" name="Shape 63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1" name="Text 87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을 단순 꼬리표가 아니라 의미 축 객체로 다루는 방향으로 바꿨다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핵심 변화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2" name="Text 88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active topic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유지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기존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topic attach /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새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topic create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판단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topic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과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project_id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분리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topic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은 의미 축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project_id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는 출처 축으로 구분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3" name="Text 89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4" name="Shape 64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5" name="Text 90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에서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은 분류용 문자열이 아니라 기억의 적용 범위를 정하는 핵심 좌표축이다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6" name="Shape 65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7" name="Text 91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에서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은 분류용 문자열이 아니라 기억의 적용 범위를 정하는 핵심 좌표축이다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sldNum" idx="19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E29721-F32A-431C-82CC-03F7ECBAB895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15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 92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0" name="Text 93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1" name="Shape 66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2" name="Shape 67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3" name="Text 94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일반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후보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확정 경계가 채널마다 달라지던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4" name="Text 95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5" name="Shape 68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6" name="Text 96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candidate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confirmed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의미가 채널마다 다르게 해석될 위험이 있었다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7" name="Text 97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8" name="Shape 69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9" name="Text 98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채팅에서는 일반 정보로만 남고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첨부에서는 후보가 되고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project artifact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에서는 거의 확정처럼 작동한다면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0" name="Text 99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1" name="Shape 70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2" name="Text 100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의미를 가능한 한 통일하는 쪽으로 재정렬했다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지향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추가 원칙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3" name="Text 101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일반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저장 가치는 있지만 기본 주입 대상은 아님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후보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승격 가능성이 있는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집합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확정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현재 사용자 모델에 반영되는 층위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4" name="Text 102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5" name="Shape 71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6" name="Text 103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 계층은 채널별 편의 규칙이 아니라 시스템 전체에서 같은 뜻을 가져야 한다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7" name="Shape 72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8" name="Text 104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 계층은 채널별 편의 규칙이 아니라 시스템 전체에서 같은 뜻을 가져야 한다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sldNum" idx="20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03DAFC-8272-416A-9AFA-72CB6E90A172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16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 105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13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1" name="Text 106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2" name="Shape 73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3" name="Shape 74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4" name="Text 107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텍스트 첨부 답변이 템플릿처럼 느껴지던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5" name="Text 108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6" name="Shape 75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7" name="Text 109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 기반 응답이 실제 대화처럼 생성되지 않고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미리 짜둔 템플릿처럼 반복되던 시기가 있었다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8" name="Text 110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9" name="Shape 76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0" name="Text 111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답변이 지나치게 기계적이라 품질 신뢰가 떨어짐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템플릿 구조가 바뀐 메모리 상태를 충분히 반영하지 못함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1" name="Text 112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2" name="Shape 77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3" name="Text 113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최종 답변도 모델이 생성하도록 바꾸고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템플릿은 설명용 보조 구조에서만 쓰는 방향으로 조정했다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4" name="Text 114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5" name="Shape 78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6" name="Text 115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는 정해진 문구를 뱉는 시스템이 아니라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갱신된 근거를 바탕으로 그때그때 말할 수 있어야 하는 시스템이다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7" name="Shape 79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38" name="Text 116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정해진 문구를 뱉는 시스템이 아니라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갱신된 근거를 바탕으로 그때그때 말할 수 있어야 하는 시스템이다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sldNum" idx="21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DE7992-CA8B-4378-8B28-9136E863D9DE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17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117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1" name="Text 118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2" name="Shape 80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3" name="Shape 81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4" name="Text 119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사용자 질문을 그대로 복사하는 답변이 나오던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5" name="Text 120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6" name="Shape 82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7" name="Text 121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특히 첨부 기반 경로에서 사용자의 질문을 거의 그대로 되받아 말하는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echo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문제가 있었다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8" name="Text 122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9" name="Shape 83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0" name="Text 123"/>
          <p:cNvSpPr/>
          <p:nvPr/>
        </p:nvSpPr>
        <p:spPr>
          <a:xfrm>
            <a:off x="4096440" y="2331720"/>
            <a:ext cx="7113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이런 답변은 실제 이해가 아니라 입력 복제를 보여준다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작은 모델일수록 더 자주 발생했고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prompt</a:t>
            </a: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길수록 더 심해졌다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1" name="Text 124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2" name="Shape 84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3" name="Text 125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답변 입력에 질문 원문 전체를 그대로 넘기기보다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질문의 요지를 요약해서 전달하는 방향으로 바꿨다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또한 명시적으로 다음 원칙을 세웠다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4" name="Text 126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사용자 문장을 그대로 베껴 답하지 않는다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인칭 표현을 기계적으로 따라 쓰지 않는다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첨부 기반 답변도 일반 대화와 같은 화자 일관성을 유지한다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5" name="Text 127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6" name="Shape 85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7" name="Text 128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질문 복사는 이해의 신호가 아니라 입력 설계 실패의 신호다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8" name="Shape 86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9" name="Text 129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질문 복사는 이해의 신호가 아니라 입력 설계 실패의 신호다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sldNum" idx="22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9ACFCE-1FC7-41A7-9779-01B276FCDFCE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18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 130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15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2" name="Text 131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3" name="Shape 87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4" name="Shape 88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5" name="Text 132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인칭과 말투가 흔들리던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6" name="Text 133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7" name="Shape 89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8" name="Text 134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프로필 경로에서 특히 다음 문제가 반복되었다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9" name="Text 135"/>
          <p:cNvSpPr/>
          <p:nvPr/>
        </p:nvSpPr>
        <p:spPr>
          <a:xfrm>
            <a:off x="960120" y="3200400"/>
            <a:ext cx="244980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나</a:t>
            </a: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너 기준이 뒤섞임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존댓말과 반말이 섞임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일반 대화와 첨부 답변의 말투가 다른 사람처럼 느껴짐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0" name="Text 136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1" name="Shape 90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2" name="Text 137"/>
          <p:cNvSpPr/>
          <p:nvPr/>
        </p:nvSpPr>
        <p:spPr>
          <a:xfrm>
            <a:off x="4096440" y="2331720"/>
            <a:ext cx="7113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핵심은 사용자 이해의 일관성인데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화자 일관성이 깨지면 시스템 전체의 신뢰가 떨어진다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3" name="Text 138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4" name="Shape 91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5" name="Text 139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다음 원칙을 별도 경로에도 강하게 적용했다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6" name="Text 140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사용자 발화의 나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내는 사용자 기준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너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네는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AI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기준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답변은 존댓말만 유지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7" name="Text 141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8" name="Shape 92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9" name="Text 142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말투 문제는 사소한 스타일 이슈가 아니라 동일한 인지 주체처럼 보이느냐의 문제다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0" name="Shape 93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1" name="Text 143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말투 문제는 사소한 스타일 이슈가 아니라 동일한 인지 주체처럼 보이느냐의 문제다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sldNum" idx="23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5DEBC8-823D-4558-B9ED-081C46ECA21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19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144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20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4" name="Text 145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CORRECTION TARGET KIND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5" name="Shape 94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6" name="Shape 95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7" name="Text 146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Correction target kind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분류 체계 도입으로 정정의 의도를 명확화한 문제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(2026-04-13)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8" name="Shape 96"/>
          <p:cNvSpPr/>
          <p:nvPr/>
        </p:nvSpPr>
        <p:spPr>
          <a:xfrm>
            <a:off x="749880" y="1783080"/>
            <a:ext cx="2925360" cy="3519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9" name="Text 147"/>
          <p:cNvSpPr/>
          <p:nvPr/>
        </p:nvSpPr>
        <p:spPr>
          <a:xfrm>
            <a:off x="969120" y="2066400"/>
            <a:ext cx="24865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같은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이라도 “무엇을 정정하는지”가 다르면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 미치는 범위와 방식도 달라져야 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0" name="Text 148"/>
          <p:cNvSpPr/>
          <p:nvPr/>
        </p:nvSpPr>
        <p:spPr>
          <a:xfrm>
            <a:off x="969120" y="2907720"/>
            <a:ext cx="24865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사실 오류 정정이 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 rebuild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오염시킬 수 있었음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정정 의도를 구분하지 못하면 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retrieval / promotion / rebuild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도 왜곡됨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답변 스타일 피드백을 따로 축적할 수 없었음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1" name="Shape 97"/>
          <p:cNvSpPr/>
          <p:nvPr/>
        </p:nvSpPr>
        <p:spPr>
          <a:xfrm>
            <a:off x="3950280" y="1783080"/>
            <a:ext cx="2239560" cy="3519720"/>
          </a:xfrm>
          <a:prstGeom prst="roundRect">
            <a:avLst>
              <a:gd name="adj" fmla="val 3265"/>
            </a:avLst>
          </a:prstGeom>
          <a:solidFill>
            <a:srgbClr val="EDF4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2" name="Text 149"/>
          <p:cNvSpPr/>
          <p:nvPr/>
        </p:nvSpPr>
        <p:spPr>
          <a:xfrm>
            <a:off x="4361760" y="1993320"/>
            <a:ext cx="1389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3" name="Text 150"/>
          <p:cNvSpPr/>
          <p:nvPr/>
        </p:nvSpPr>
        <p:spPr>
          <a:xfrm>
            <a:off x="4151520" y="2541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사용자 모델 자체 정정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4" name="Text 151"/>
          <p:cNvSpPr/>
          <p:nvPr/>
        </p:nvSpPr>
        <p:spPr>
          <a:xfrm>
            <a:off x="4114800" y="3273480"/>
            <a:ext cx="19011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취향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가치관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성향을 직접 수정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ProfileRebuilder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에서 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rebuild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 반영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5" name="Shape 98"/>
          <p:cNvSpPr/>
          <p:nvPr/>
        </p:nvSpPr>
        <p:spPr>
          <a:xfrm>
            <a:off x="6437520" y="1783080"/>
            <a:ext cx="2239560" cy="3519720"/>
          </a:xfrm>
          <a:prstGeom prst="roundRect">
            <a:avLst>
              <a:gd name="adj" fmla="val 3265"/>
            </a:avLst>
          </a:prstGeom>
          <a:solidFill>
            <a:srgbClr val="F6FCF9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6" name="Text 152"/>
          <p:cNvSpPr/>
          <p:nvPr/>
        </p:nvSpPr>
        <p:spPr>
          <a:xfrm>
            <a:off x="6849000" y="1993320"/>
            <a:ext cx="1389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topic_fact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7" name="Text 153"/>
          <p:cNvSpPr/>
          <p:nvPr/>
        </p:nvSpPr>
        <p:spPr>
          <a:xfrm>
            <a:off x="6638400" y="2541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설명</a:t>
            </a:r>
            <a:r>
              <a:rPr lang="en-US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정보 정정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8" name="Text 154"/>
          <p:cNvSpPr/>
          <p:nvPr/>
        </p:nvSpPr>
        <p:spPr>
          <a:xfrm>
            <a:off x="6602040" y="3273480"/>
            <a:ext cx="19011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AI 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설명 오류를 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correction store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 저장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profile rebuild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에는 넣지 않고 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conflict 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판단에 활용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9" name="Shape 99"/>
          <p:cNvSpPr/>
          <p:nvPr/>
        </p:nvSpPr>
        <p:spPr>
          <a:xfrm>
            <a:off x="8924400" y="1783080"/>
            <a:ext cx="2239560" cy="3519720"/>
          </a:xfrm>
          <a:prstGeom prst="roundRect">
            <a:avLst>
              <a:gd name="adj" fmla="val 3265"/>
            </a:avLst>
          </a:prstGeom>
          <a:solidFill>
            <a:srgbClr val="F8F5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0" name="Text 155"/>
          <p:cNvSpPr/>
          <p:nvPr/>
        </p:nvSpPr>
        <p:spPr>
          <a:xfrm>
            <a:off x="9335880" y="1993320"/>
            <a:ext cx="1389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response_behavior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1" name="Text 156"/>
          <p:cNvSpPr/>
          <p:nvPr/>
        </p:nvSpPr>
        <p:spPr>
          <a:xfrm>
            <a:off x="9125640" y="2541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답변 방식 정정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2" name="Text 157"/>
          <p:cNvSpPr/>
          <p:nvPr/>
        </p:nvSpPr>
        <p:spPr>
          <a:xfrm>
            <a:off x="9089280" y="3273480"/>
            <a:ext cx="19011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길이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톤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태도 피드백을 별도 축으로 저장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향후 응답 스타일 정책 학습 재료로 활용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3" name="Shape 100"/>
          <p:cNvSpPr/>
          <p:nvPr/>
        </p:nvSpPr>
        <p:spPr>
          <a:xfrm>
            <a:off x="749880" y="5532120"/>
            <a:ext cx="10697760" cy="502200"/>
          </a:xfrm>
          <a:prstGeom prst="roundRect">
            <a:avLst>
              <a:gd name="adj" fmla="val 14545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04" name="Text 158"/>
          <p:cNvSpPr/>
          <p:nvPr/>
        </p:nvSpPr>
        <p:spPr>
          <a:xfrm>
            <a:off x="987480" y="5678280"/>
            <a:ext cx="10194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정정을 “한 종류의 </a:t>
            </a:r>
            <a:r>
              <a:rPr lang="en-US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correction”</a:t>
            </a:r>
            <a:r>
              <a:rPr lang="ko-KR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으로 뭉개지 않고 대상별로 분리함으로써 </a:t>
            </a:r>
            <a:r>
              <a:rPr lang="en-US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profile </a:t>
            </a:r>
            <a:r>
              <a:rPr lang="ko-KR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안전성과 향후 확장성이 모두 좋아졌다</a:t>
            </a:r>
            <a:r>
              <a:rPr lang="en-US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5" name="PlaceHolder 1"/>
          <p:cNvSpPr>
            <a:spLocks noGrp="1"/>
          </p:cNvSpPr>
          <p:nvPr>
            <p:ph type="sldNum" idx="24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7A1C9F-FD28-482A-9C0C-19DF83106ED9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20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Text 159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21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7" name="Text 160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8" name="Shape 101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9" name="Shape 102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0" name="Text 161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문제 의존성을 제거하지 않고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Python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상한으로만 막으려던 문제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(2026-04-13)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1" name="Text 162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2" name="Shape 103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3" name="Text 163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langchain-text-splitters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Python 3.14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환경에서 경고와 호환성 불안을 만들고 있었고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이를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interpreter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상한으로만 막는 방향으로 굳어질 위험이 있었다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4" name="Text 164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5" name="Shape 104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6" name="Text 165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문제의 원인이 프로젝트 구조가 아니라 특정 의존성인데도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프로젝트 전체가 버전 제약을 떠안게 됨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새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Python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버전이 나올 때마다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일단 막고 보자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는 운영으로 굳어질 위험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MK4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지향하는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local-first /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구조 우선 철학보다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외부 의존성의 임시 회피가 더 강해짐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7" name="Text 166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8" name="Shape 105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9" name="Text 167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문제 의존성을 직접 제거하는 방향으로 수정했다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0" name="Text 168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project_analysis/injest/chunker.py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의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langchain-text-splitters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의존 제거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확장자별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separator + character chunking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정책은 유지하되 내부 구현으로 전환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tests/test_chunker.py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로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separator / fallback / overlap / line number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검증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1" name="Text 169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2" name="Shape 106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3" name="Text 170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장기 프로젝트에서는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문제 라이브러리 때문에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interpreter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를 묶는 것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보다 가능한 문제 라이브러리를 걷어내고 프로젝트의 구조 자율성을 높이는 것이 더 건강하다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4" name="Shape 107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25" name="Text 171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장기 프로젝트에서는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문제 라이브러리 때문에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interpreter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를 묶는 것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보다 가능한 문제 라이브러리를 걷어내고 프로젝트의 구조 자율성을 높이는 것이 더 건강하다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6" name="PlaceHolder 1"/>
          <p:cNvSpPr>
            <a:spLocks noGrp="1"/>
          </p:cNvSpPr>
          <p:nvPr>
            <p:ph type="sldNum" idx="25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74C692-ADEA-425A-B812-836CE4FBCE58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21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2 · 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채널별로 기억 의미론이 갈라지던 문제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8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9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0" name="Shape 3"/>
          <p:cNvSpPr/>
          <p:nvPr/>
        </p:nvSpPr>
        <p:spPr>
          <a:xfrm>
            <a:off x="868680" y="1389960"/>
            <a:ext cx="584640" cy="310320"/>
          </a:xfrm>
          <a:prstGeom prst="roundRect">
            <a:avLst>
              <a:gd name="adj" fmla="val 35294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1" name="Text 4"/>
          <p:cNvSpPr/>
          <p:nvPr/>
        </p:nvSpPr>
        <p:spPr>
          <a:xfrm>
            <a:off x="868680" y="1426320"/>
            <a:ext cx="584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2" name="Shape 5"/>
          <p:cNvSpPr/>
          <p:nvPr/>
        </p:nvSpPr>
        <p:spPr>
          <a:xfrm>
            <a:off x="777240" y="1810440"/>
            <a:ext cx="1097208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3" name="Text 6"/>
          <p:cNvSpPr/>
          <p:nvPr/>
        </p:nvSpPr>
        <p:spPr>
          <a:xfrm>
            <a:off x="1005840" y="2020680"/>
            <a:ext cx="10469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일반 채팅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project artifact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서로 다른 시스템처럼 취급되면서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같은 의미도 채널에 따라 버려지거나 과하게 확정되는 일이 생겼다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4" name="Shape 7"/>
          <p:cNvSpPr/>
          <p:nvPr/>
        </p:nvSpPr>
        <p:spPr>
          <a:xfrm>
            <a:off x="868680" y="2743200"/>
            <a:ext cx="1005120" cy="310320"/>
          </a:xfrm>
          <a:prstGeom prst="roundRect">
            <a:avLst>
              <a:gd name="adj" fmla="val 35294"/>
            </a:avLst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35" name="Text 8"/>
          <p:cNvSpPr/>
          <p:nvPr/>
        </p:nvSpPr>
        <p:spPr>
          <a:xfrm>
            <a:off x="868680" y="2779920"/>
            <a:ext cx="1005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왜 문제였는가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6" name="Shape 9"/>
          <p:cNvSpPr/>
          <p:nvPr/>
        </p:nvSpPr>
        <p:spPr>
          <a:xfrm>
            <a:off x="777240" y="3127320"/>
            <a:ext cx="5257080" cy="1736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7" name="Text 10"/>
          <p:cNvSpPr/>
          <p:nvPr/>
        </p:nvSpPr>
        <p:spPr>
          <a:xfrm>
            <a:off x="1024200" y="3401640"/>
            <a:ext cx="47541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같은 사용자 정보라도 채널별로 다른 규칙을 적용하면 시스템 전체 일관성이 무너지고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장기 기억 계층이 공통 기반을 잃게 된다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8" name="Shape 11"/>
          <p:cNvSpPr/>
          <p:nvPr/>
        </p:nvSpPr>
        <p:spPr>
          <a:xfrm>
            <a:off x="6355080" y="2743200"/>
            <a:ext cx="85896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39" name="Text 12"/>
          <p:cNvSpPr/>
          <p:nvPr/>
        </p:nvSpPr>
        <p:spPr>
          <a:xfrm>
            <a:off x="6355080" y="2779920"/>
            <a:ext cx="858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해결 방향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0" name="Shape 13"/>
          <p:cNvSpPr/>
          <p:nvPr/>
        </p:nvSpPr>
        <p:spPr>
          <a:xfrm>
            <a:off x="6263640" y="3127320"/>
            <a:ext cx="5439960" cy="1736640"/>
          </a:xfrm>
          <a:prstGeom prst="roundRect">
            <a:avLst>
              <a:gd name="adj" fmla="val 4211"/>
            </a:avLst>
          </a:prstGeom>
          <a:solidFill>
            <a:srgbClr val="F3F8FF"/>
          </a:solidFill>
          <a:ln w="12700">
            <a:solidFill>
              <a:srgbClr val="D4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1" name="Text 14"/>
          <p:cNvSpPr/>
          <p:nvPr/>
        </p:nvSpPr>
        <p:spPr>
          <a:xfrm>
            <a:off x="6510600" y="3401640"/>
            <a:ext cx="491868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채널은 달라도 기억으로 들어갈 때는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general / candidate / confirmed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공통 의미론으로 수렴시키는 방향으로 재정렬했다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2" name="Shape 15"/>
          <p:cNvSpPr/>
          <p:nvPr/>
        </p:nvSpPr>
        <p:spPr>
          <a:xfrm>
            <a:off x="1097280" y="5212080"/>
            <a:ext cx="10057680" cy="584640"/>
          </a:xfrm>
          <a:prstGeom prst="roundRect">
            <a:avLst>
              <a:gd name="adj" fmla="val 12500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3" name="Text 16"/>
          <p:cNvSpPr/>
          <p:nvPr/>
        </p:nvSpPr>
        <p:spPr>
          <a:xfrm>
            <a:off x="1298520" y="5413320"/>
            <a:ext cx="964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핵심 교훈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입력 채널 분리는 기술적 편의일 뿐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의미론 분리의 근거가 될 수 없다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4" name="PlaceHolder 1"/>
          <p:cNvSpPr>
            <a:spLocks noGrp="1"/>
          </p:cNvSpPr>
          <p:nvPr>
            <p:ph type="sldNum" idx="26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D11149-4F63-4E48-B872-89DDB6CA7423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22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3 · preview-first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실제 업데이트를 가로막던 문제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6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7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8" name="Shape 3"/>
          <p:cNvSpPr/>
          <p:nvPr/>
        </p:nvSpPr>
        <p:spPr>
          <a:xfrm>
            <a:off x="868680" y="1389960"/>
            <a:ext cx="584640" cy="310320"/>
          </a:xfrm>
          <a:prstGeom prst="roundRect">
            <a:avLst>
              <a:gd name="adj" fmla="val 35294"/>
            </a:avLst>
          </a:prstGeom>
          <a:solidFill>
            <a:srgbClr val="22A06B"/>
          </a:solidFill>
          <a:ln w="12700">
            <a:solidFill>
              <a:srgbClr val="22A0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9" name="Text 4"/>
          <p:cNvSpPr/>
          <p:nvPr/>
        </p:nvSpPr>
        <p:spPr>
          <a:xfrm>
            <a:off x="868680" y="1426320"/>
            <a:ext cx="584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0" name="Shape 5"/>
          <p:cNvSpPr/>
          <p:nvPr/>
        </p:nvSpPr>
        <p:spPr>
          <a:xfrm>
            <a:off x="777240" y="1810440"/>
            <a:ext cx="1097208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1" name="Text 6"/>
          <p:cNvSpPr/>
          <p:nvPr/>
        </p:nvSpPr>
        <p:spPr>
          <a:xfrm>
            <a:off x="1005840" y="2020680"/>
            <a:ext cx="10469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텍스트를 분석해 설명은 해주지만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실제 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에는 거의 반영되지 않는 구조가 한동안 남아 있었다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2" name="Shape 7"/>
          <p:cNvSpPr/>
          <p:nvPr/>
        </p:nvSpPr>
        <p:spPr>
          <a:xfrm>
            <a:off x="868680" y="2743200"/>
            <a:ext cx="1005120" cy="310320"/>
          </a:xfrm>
          <a:prstGeom prst="roundRect">
            <a:avLst>
              <a:gd name="adj" fmla="val 35294"/>
            </a:avLst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53" name="Text 8"/>
          <p:cNvSpPr/>
          <p:nvPr/>
        </p:nvSpPr>
        <p:spPr>
          <a:xfrm>
            <a:off x="868680" y="2779920"/>
            <a:ext cx="1005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왜 문제였는가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4" name="Shape 9"/>
          <p:cNvSpPr/>
          <p:nvPr/>
        </p:nvSpPr>
        <p:spPr>
          <a:xfrm>
            <a:off x="777240" y="3127320"/>
            <a:ext cx="5257080" cy="1736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5" name="Text 10"/>
          <p:cNvSpPr/>
          <p:nvPr/>
        </p:nvSpPr>
        <p:spPr>
          <a:xfrm>
            <a:off x="1024200" y="3401640"/>
            <a:ext cx="47541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겉으로는 이해한 것처럼 보이지만 다음 대화에 남는 것이 없어서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“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일회성 해석문 생성기”에 가까워지는 문제가 있었다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6" name="Shape 11"/>
          <p:cNvSpPr/>
          <p:nvPr/>
        </p:nvSpPr>
        <p:spPr>
          <a:xfrm>
            <a:off x="6355080" y="2743200"/>
            <a:ext cx="85896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57" name="Text 12"/>
          <p:cNvSpPr/>
          <p:nvPr/>
        </p:nvSpPr>
        <p:spPr>
          <a:xfrm>
            <a:off x="6355080" y="2779920"/>
            <a:ext cx="858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해결 방향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8" name="Shape 13"/>
          <p:cNvSpPr/>
          <p:nvPr/>
        </p:nvSpPr>
        <p:spPr>
          <a:xfrm>
            <a:off x="6263640" y="3127320"/>
            <a:ext cx="5439960" cy="1736640"/>
          </a:xfrm>
          <a:prstGeom prst="roundRect">
            <a:avLst>
              <a:gd name="adj" fmla="val 4211"/>
            </a:avLst>
          </a:prstGeom>
          <a:solidFill>
            <a:srgbClr val="F3F8FF"/>
          </a:solidFill>
          <a:ln w="12700">
            <a:solidFill>
              <a:srgbClr val="D4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9" name="Text 14"/>
          <p:cNvSpPr/>
          <p:nvPr/>
        </p:nvSpPr>
        <p:spPr>
          <a:xfrm>
            <a:off x="6510600" y="3401640"/>
            <a:ext cx="491868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기반 요청을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source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저장 →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passage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선택 →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추출 →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store → sync → answer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update-first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구조로 바꿨다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0" name="Shape 15"/>
          <p:cNvSpPr/>
          <p:nvPr/>
        </p:nvSpPr>
        <p:spPr>
          <a:xfrm>
            <a:off x="1097280" y="5212080"/>
            <a:ext cx="10057680" cy="584640"/>
          </a:xfrm>
          <a:prstGeom prst="roundRect">
            <a:avLst>
              <a:gd name="adj" fmla="val 12500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1" name="Text 16"/>
          <p:cNvSpPr/>
          <p:nvPr/>
        </p:nvSpPr>
        <p:spPr>
          <a:xfrm>
            <a:off x="1298520" y="5413320"/>
            <a:ext cx="964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핵심 교훈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 MK4</a:t>
            </a: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에서 첨부 기반 프로필 요청은 설명 서비스가 아니라 실제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memory update </a:t>
            </a: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이벤트여야 한다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2" name="PlaceHolder 1"/>
          <p:cNvSpPr>
            <a:spLocks noGrp="1"/>
          </p:cNvSpPr>
          <p:nvPr>
            <p:ph type="sldNum" idx="27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50906E-7354-400E-B202-3FA0AD5045DF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23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향후 확장 계획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4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WHAT IS NOT FINISHED YET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5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749880" y="1554480"/>
            <a:ext cx="5138280" cy="1782360"/>
          </a:xfrm>
          <a:prstGeom prst="roundRect">
            <a:avLst>
              <a:gd name="adj" fmla="val 4103"/>
            </a:avLst>
          </a:prstGeom>
          <a:solidFill>
            <a:srgbClr val="EDF4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7" name="Text 4"/>
          <p:cNvSpPr/>
          <p:nvPr/>
        </p:nvSpPr>
        <p:spPr>
          <a:xfrm>
            <a:off x="969120" y="173736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일반 채팅 품질 고도화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8" name="Text 5"/>
          <p:cNvSpPr/>
          <p:nvPr/>
        </p:nvSpPr>
        <p:spPr>
          <a:xfrm>
            <a:off x="978480" y="2084760"/>
            <a:ext cx="4525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현재 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75~80%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수준을 첨부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/artifact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수준으로 끌어올리기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general → candidate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승격과 재사용 안정화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짧음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반복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... ,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모르는 척 문제 재현 테스트 및 개선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9" name="Shape 6"/>
          <p:cNvSpPr/>
          <p:nvPr/>
        </p:nvSpPr>
        <p:spPr>
          <a:xfrm>
            <a:off x="6236280" y="1554480"/>
            <a:ext cx="5138280" cy="1782360"/>
          </a:xfrm>
          <a:prstGeom prst="roundRect">
            <a:avLst>
              <a:gd name="adj" fmla="val 4103"/>
            </a:avLst>
          </a:prstGeom>
          <a:solidFill>
            <a:srgbClr val="EAF9F5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0" name="Text 7"/>
          <p:cNvSpPr/>
          <p:nvPr/>
        </p:nvSpPr>
        <p:spPr>
          <a:xfrm>
            <a:off x="6455520" y="173736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Source lookup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1" name="Text 8"/>
          <p:cNvSpPr/>
          <p:nvPr/>
        </p:nvSpPr>
        <p:spPr>
          <a:xfrm>
            <a:off x="6464880" y="2084760"/>
            <a:ext cx="4525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recent source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자동 관리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active topic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자동 설정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reply_guard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책임 축소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2" name="Shape 9"/>
          <p:cNvSpPr/>
          <p:nvPr/>
        </p:nvSpPr>
        <p:spPr>
          <a:xfrm>
            <a:off x="749880" y="3602880"/>
            <a:ext cx="5138280" cy="1782360"/>
          </a:xfrm>
          <a:prstGeom prst="roundRect">
            <a:avLst>
              <a:gd name="adj" fmla="val 4103"/>
            </a:avLst>
          </a:prstGeom>
          <a:solidFill>
            <a:srgbClr val="FFF9F0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3" name="Text 10"/>
          <p:cNvSpPr/>
          <p:nvPr/>
        </p:nvSpPr>
        <p:spPr>
          <a:xfrm>
            <a:off x="969120" y="378576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 </a:t>
            </a:r>
            <a:r>
              <a:rPr lang="ko-KR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확장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4" name="Text 11"/>
          <p:cNvSpPr/>
          <p:nvPr/>
        </p:nvSpPr>
        <p:spPr>
          <a:xfrm>
            <a:off x="978480" y="4133160"/>
            <a:ext cx="4525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profile → topic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수준 확장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merge / split / rebuild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기준 설계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correction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기반 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demote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로직 강화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5" name="Shape 12"/>
          <p:cNvSpPr/>
          <p:nvPr/>
        </p:nvSpPr>
        <p:spPr>
          <a:xfrm>
            <a:off x="6236280" y="3602880"/>
            <a:ext cx="5138280" cy="1782360"/>
          </a:xfrm>
          <a:prstGeom prst="roundRect">
            <a:avLst>
              <a:gd name="adj" fmla="val 4103"/>
            </a:avLst>
          </a:prstGeom>
          <a:solidFill>
            <a:srgbClr val="F5F0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6" name="Text 13"/>
          <p:cNvSpPr/>
          <p:nvPr/>
        </p:nvSpPr>
        <p:spPr>
          <a:xfrm>
            <a:off x="6455520" y="378576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측정 루프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7" name="Text 14"/>
          <p:cNvSpPr/>
          <p:nvPr/>
        </p:nvSpPr>
        <p:spPr>
          <a:xfrm>
            <a:off x="6464880" y="4133160"/>
            <a:ext cx="4525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응답시간 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승격 빈도 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attach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정확도 추적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품질 메트릭 기반 개선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운영값 튜닝의 근거 확보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8" name="PlaceHolder 1"/>
          <p:cNvSpPr>
            <a:spLocks noGrp="1"/>
          </p:cNvSpPr>
          <p:nvPr>
            <p:ph type="sldNum" idx="28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6A57FB-29F3-41CB-BBAD-1930A0A99BBF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24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향후 발전 방향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· MK5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0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NEXT STAGE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1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749880" y="1554480"/>
            <a:ext cx="10972080" cy="4479840"/>
          </a:xfrm>
          <a:prstGeom prst="roundRect">
            <a:avLst>
              <a:gd name="adj" fmla="val 1633"/>
            </a:avLst>
          </a:prstGeom>
          <a:solidFill>
            <a:srgbClr val="101B2E"/>
          </a:solidFill>
          <a:ln w="12700">
            <a:solidFill>
              <a:srgbClr val="22334E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3" name="Text 4"/>
          <p:cNvSpPr/>
          <p:nvPr/>
        </p:nvSpPr>
        <p:spPr>
          <a:xfrm>
            <a:off x="1097280" y="1828800"/>
            <a:ext cx="9966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가 “</a:t>
            </a: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memory substrate”</a:t>
            </a:r>
            <a:r>
              <a:rPr lang="ko-KR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를 구현하는 단계라면</a:t>
            </a: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MK5</a:t>
            </a:r>
            <a:r>
              <a:rPr lang="ko-KR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그 위에 더 넓은 </a:t>
            </a: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cognition loop</a:t>
            </a:r>
            <a:r>
              <a:rPr lang="ko-KR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를 얹는 단계로 생각하고 있다</a:t>
            </a: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4" name="Shape 5"/>
          <p:cNvSpPr/>
          <p:nvPr/>
        </p:nvSpPr>
        <p:spPr>
          <a:xfrm>
            <a:off x="1005840" y="3090600"/>
            <a:ext cx="2148120" cy="1425600"/>
          </a:xfrm>
          <a:prstGeom prst="roundRect">
            <a:avLst>
              <a:gd name="adj" fmla="val 5128"/>
            </a:avLst>
          </a:prstGeom>
          <a:solidFill>
            <a:srgbClr val="173050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5" name="Text 6"/>
          <p:cNvSpPr/>
          <p:nvPr/>
        </p:nvSpPr>
        <p:spPr>
          <a:xfrm>
            <a:off x="1115640" y="3364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EAF2FF"/>
                </a:solidFill>
                <a:effectLst/>
                <a:uFillTx/>
                <a:latin typeface="Noto Sans CJK KR"/>
                <a:ea typeface="Noto Sans CJK KR"/>
              </a:rPr>
              <a:t>Memory substrate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6" name="Text 7"/>
          <p:cNvSpPr/>
          <p:nvPr/>
        </p:nvSpPr>
        <p:spPr>
          <a:xfrm>
            <a:off x="1115640" y="374904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revisable memory / correction / topic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7" name="Shape 8"/>
          <p:cNvSpPr/>
          <p:nvPr/>
        </p:nvSpPr>
        <p:spPr>
          <a:xfrm>
            <a:off x="3255120" y="3593520"/>
            <a:ext cx="200520" cy="236880"/>
          </a:xfrm>
          <a:prstGeom prst="chevron">
            <a:avLst>
              <a:gd name="adj" fmla="val 50000"/>
            </a:avLst>
          </a:prstGeom>
          <a:solidFill>
            <a:srgbClr val="3F5C86"/>
          </a:solidFill>
          <a:ln w="12700">
            <a:solidFill>
              <a:srgbClr val="3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8" name="Shape 9"/>
          <p:cNvSpPr/>
          <p:nvPr/>
        </p:nvSpPr>
        <p:spPr>
          <a:xfrm>
            <a:off x="3703320" y="3090600"/>
            <a:ext cx="2148120" cy="1425600"/>
          </a:xfrm>
          <a:prstGeom prst="roundRect">
            <a:avLst>
              <a:gd name="adj" fmla="val 5128"/>
            </a:avLst>
          </a:prstGeom>
          <a:solidFill>
            <a:srgbClr val="13243C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9" name="Text 10"/>
          <p:cNvSpPr/>
          <p:nvPr/>
        </p:nvSpPr>
        <p:spPr>
          <a:xfrm>
            <a:off x="3813120" y="3364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EAF2FF"/>
                </a:solidFill>
                <a:effectLst/>
                <a:uFillTx/>
                <a:latin typeface="Noto Sans CJK KR"/>
                <a:ea typeface="Noto Sans CJK KR"/>
              </a:rPr>
              <a:t>Source lookup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0" name="Text 11"/>
          <p:cNvSpPr/>
          <p:nvPr/>
        </p:nvSpPr>
        <p:spPr>
          <a:xfrm>
            <a:off x="3813120" y="374904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recent source · DB · raw transcript </a:t>
            </a: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재탐색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1" name="Shape 12"/>
          <p:cNvSpPr/>
          <p:nvPr/>
        </p:nvSpPr>
        <p:spPr>
          <a:xfrm>
            <a:off x="5952600" y="3593520"/>
            <a:ext cx="200520" cy="236880"/>
          </a:xfrm>
          <a:prstGeom prst="chevron">
            <a:avLst>
              <a:gd name="adj" fmla="val 50000"/>
            </a:avLst>
          </a:prstGeom>
          <a:solidFill>
            <a:srgbClr val="3F5C86"/>
          </a:solidFill>
          <a:ln w="12700">
            <a:solidFill>
              <a:srgbClr val="3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2" name="Shape 13"/>
          <p:cNvSpPr/>
          <p:nvPr/>
        </p:nvSpPr>
        <p:spPr>
          <a:xfrm>
            <a:off x="6400800" y="3090600"/>
            <a:ext cx="2148120" cy="1425600"/>
          </a:xfrm>
          <a:prstGeom prst="roundRect">
            <a:avLst>
              <a:gd name="adj" fmla="val 5128"/>
            </a:avLst>
          </a:prstGeom>
          <a:solidFill>
            <a:srgbClr val="13243C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3" name="Text 14"/>
          <p:cNvSpPr/>
          <p:nvPr/>
        </p:nvSpPr>
        <p:spPr>
          <a:xfrm>
            <a:off x="6510600" y="3364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EAF2FF"/>
                </a:solidFill>
                <a:effectLst/>
                <a:uFillTx/>
                <a:latin typeface="Noto Sans CJK KR"/>
                <a:ea typeface="Noto Sans CJK KR"/>
              </a:rPr>
              <a:t>Reasoning / planning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4" name="Text 15"/>
          <p:cNvSpPr/>
          <p:nvPr/>
        </p:nvSpPr>
        <p:spPr>
          <a:xfrm>
            <a:off x="6510600" y="374904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기억 위에서 더 긴 사고와 선택 구조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5" name="Shape 16"/>
          <p:cNvSpPr/>
          <p:nvPr/>
        </p:nvSpPr>
        <p:spPr>
          <a:xfrm>
            <a:off x="8650080" y="3593520"/>
            <a:ext cx="200520" cy="236880"/>
          </a:xfrm>
          <a:prstGeom prst="chevron">
            <a:avLst>
              <a:gd name="adj" fmla="val 50000"/>
            </a:avLst>
          </a:prstGeom>
          <a:solidFill>
            <a:srgbClr val="3F5C86"/>
          </a:solidFill>
          <a:ln w="12700">
            <a:solidFill>
              <a:srgbClr val="3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6" name="Shape 17"/>
          <p:cNvSpPr/>
          <p:nvPr/>
        </p:nvSpPr>
        <p:spPr>
          <a:xfrm>
            <a:off x="9098280" y="3090600"/>
            <a:ext cx="2148120" cy="1425600"/>
          </a:xfrm>
          <a:prstGeom prst="roundRect">
            <a:avLst>
              <a:gd name="adj" fmla="val 5128"/>
            </a:avLst>
          </a:prstGeom>
          <a:solidFill>
            <a:srgbClr val="13243C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7" name="Text 18"/>
          <p:cNvSpPr/>
          <p:nvPr/>
        </p:nvSpPr>
        <p:spPr>
          <a:xfrm>
            <a:off x="9208080" y="3364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EAF2FF"/>
                </a:solidFill>
                <a:effectLst/>
                <a:uFillTx/>
                <a:latin typeface="Noto Sans CJK KR"/>
                <a:ea typeface="Noto Sans CJK KR"/>
              </a:rPr>
              <a:t>User ownership &amp; governance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8" name="Text 19"/>
          <p:cNvSpPr/>
          <p:nvPr/>
        </p:nvSpPr>
        <p:spPr>
          <a:xfrm>
            <a:off x="9208080" y="374904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사용자 결정권 </a:t>
            </a:r>
            <a:r>
              <a:rPr lang="en-US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검증 가능성 </a:t>
            </a:r>
            <a:r>
              <a:rPr lang="en-US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로컬 통제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9" name="Shape 20"/>
          <p:cNvSpPr/>
          <p:nvPr/>
        </p:nvSpPr>
        <p:spPr>
          <a:xfrm>
            <a:off x="2011680" y="5047560"/>
            <a:ext cx="8183160" cy="547920"/>
          </a:xfrm>
          <a:prstGeom prst="roundRect">
            <a:avLst>
              <a:gd name="adj" fmla="val 13333"/>
            </a:avLst>
          </a:prstGeom>
          <a:solidFill>
            <a:srgbClr val="1D3556"/>
          </a:solidFill>
          <a:ln w="12700">
            <a:solidFill>
              <a:srgbClr val="2F4C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00" name="Text 21"/>
          <p:cNvSpPr/>
          <p:nvPr/>
        </p:nvSpPr>
        <p:spPr>
          <a:xfrm>
            <a:off x="2267640" y="5230440"/>
            <a:ext cx="7634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MK5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“더 큰 모델”이 아니라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검색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사고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사용자 통제를 더 강하게 연결하는 방향을 상정한다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1" name="PlaceHolder 1"/>
          <p:cNvSpPr>
            <a:spLocks noGrp="1"/>
          </p:cNvSpPr>
          <p:nvPr>
            <p:ph type="sldNum" idx="29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4E2735-DBA2-4319-8FCE-00A2F9C14FB7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25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정리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3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CLOSING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4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5" name="Shape 3"/>
          <p:cNvSpPr/>
          <p:nvPr/>
        </p:nvSpPr>
        <p:spPr>
          <a:xfrm>
            <a:off x="841320" y="1572840"/>
            <a:ext cx="10789200" cy="376668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6" name="Text 4"/>
          <p:cNvSpPr/>
          <p:nvPr/>
        </p:nvSpPr>
        <p:spPr>
          <a:xfrm>
            <a:off x="1234440" y="1901880"/>
            <a:ext cx="9966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는 “나를 잘 기억하는 챗봇”이 아니라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“기억을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로 만들고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correction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으로 다시 고칠 수 있게 하는 로컬 시스템”을 목표로 한다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7" name="Text 5"/>
          <p:cNvSpPr/>
          <p:nvPr/>
        </p:nvSpPr>
        <p:spPr>
          <a:xfrm>
            <a:off x="1828800" y="3127320"/>
            <a:ext cx="8411760" cy="14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계정이나 플랫폼이 바뀌어도 가져갈 수 있는 기억 구조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prompt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아니라 </a:t>
            </a: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개인화를 담당하는 구조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틀리면 </a:t>
            </a: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으로 다시 고치고 </a:t>
            </a: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rebuild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할 수 있는 사용자 모델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LLM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을 답변 엔진이 아니라 </a:t>
            </a: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cognition substrate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일부로 재배치하려는 시도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8" name="Shape 6"/>
          <p:cNvSpPr/>
          <p:nvPr/>
        </p:nvSpPr>
        <p:spPr>
          <a:xfrm>
            <a:off x="3611880" y="5486400"/>
            <a:ext cx="4937040" cy="621000"/>
          </a:xfrm>
          <a:prstGeom prst="roundRect">
            <a:avLst>
              <a:gd name="adj" fmla="val 11765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09" name="Text 7"/>
          <p:cNvSpPr/>
          <p:nvPr/>
        </p:nvSpPr>
        <p:spPr>
          <a:xfrm>
            <a:off x="3822120" y="5696640"/>
            <a:ext cx="4525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Thank you · Q&amp;A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0" name="PlaceHolder 1"/>
          <p:cNvSpPr>
            <a:spLocks noGrp="1"/>
          </p:cNvSpPr>
          <p:nvPr>
            <p:ph type="sldNum" idx="30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F37807-2E42-4530-A0F6-0A8F160BAB98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26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 pitchFamily="0" charset="1"/>
        <a:ea typeface=""/>
        <a:cs typeface=""/>
      </a:majorFont>
      <a:minorFont>
        <a:latin typeface="Noto Sans CJK K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 pitchFamily="0" charset="1"/>
        <a:ea typeface=""/>
        <a:cs typeface=""/>
      </a:majorFont>
      <a:minorFont>
        <a:latin typeface="Noto Sans CJK K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LibreOffice/26.2.2.2$Windows_X86_64 LibreOffice_project/1f77d10d6938fd34972958f64b2bcfa54f8b1ba5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2026-04-14T08:12:00Z</dcterms:created>
  <dc:creator>OpenAI</dc:creator>
  <dc:description/>
  <dc:language>ko-KR</dc:language>
  <cp:lastModifiedBy/>
  <dcterms:modified xsi:type="dcterms:W3CDTF">2026-04-14T18:22:38Z</dcterms:modified>
  <cp:revision>3</cp:revision>
  <dc:subject>MK4 LLM 발표자료</dc:subject>
  <dc:title>MK4 - LLM 기반 로컬 개인화 기억 시스템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